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ec6625d-34ef-7a23-1d4b-1da05f2ecee7}">
          <p14:sldIdLst>
            <p14:sldId id="256"/>
          </p14:sldIdLst>
        </p14:section>
        <p14:section name="Problem and solution" id="{2df0e78a-c252-117e-47c1-e8c398a9b8ea}">
          <p14:sldIdLst>
            <p14:sldId id="257"/>
            <p14:sldId id="258"/>
            <p14:sldId id="259"/>
          </p14:sldIdLst>
        </p14:section>
        <p14:section name="Differentiation" id="{2d9967c5-8abb-2273-e039-01f4faf0d702}">
          <p14:sldIdLst>
            <p14:sldId id="260"/>
            <p14:sldId id="261"/>
          </p14:sldIdLst>
        </p14:section>
        <p14:section name="Feasibility" id="{2be089b6-85db-43f8-c1b9-e36b0c406946}">
          <p14:sldIdLst>
            <p14:sldId id="262"/>
          </p14:sldIdLst>
        </p14:section>
        <p14:section name="Impact and risks" id="{e6f67f87-f9f8-d6ba-2930-9e0768b896b8}">
          <p14:sldIdLst>
            <p14:sldId id="263"/>
            <p14:sldId id="264"/>
          </p14:sldIdLst>
        </p14:section>
        <p14:section name="Next steps" id="{eed4e1e3-4608-afaa-f3e7-fadb64e1520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a safe, verified place for every ABB employee to ask, share and get support. Introduce Capy, our mascot, who guides people through it. This is a working prototype,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needs: an answer, a safe voice, and recognition. The cost of getting this wrong is large: WHO and ILO estimate 12 billion working days lost each year to depression and anxiety, and Gallup finds only 21% of employees engaged. Today these needs are spread across tickets, intranet pages and private chats.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pillars in one app. Walk through the screenshots: Capy greets you on Home and reacts to your check-in; Community shows the most helpful answers first with verified role tags; Ask Capy points to the right resource. All of this runs in the prototype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features came straight from our discussion of what an employee expects. Be honest about status: mood stats and the contribution score are built; verification is simulated, moderation layer 1 is built, and official answers and the AI assistant arrive with the Phase 2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question: why not Reddit or Teams? Reddit has the format but no verification, no official answers and rewards popularity. Teams and the intranet are verified but named, so people stay silent on sensitive topics. ABB Help Me combines verified membership, anonymity with role context, official answers and built-in well-being.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Capy is not decoration. Cute, round characters trigger warmth (the baby-schema effect). Research by Lucas and colleagues (2014) found people disclose more to a virtual agent they believe is not judging them, which matters for a support app. Capy mirrors your mood and celebrates progress. Duolingo, Finch and Headspace show mascots drive habits; Clippy shows the failure mode, so Capy never interrupts or guilt-trips.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is proven: the prototype has 20+ screens and 43 automated tests, runs on iOS, Android and web from one codebase, and stores everything encrypted on the device. Screens only use interfaces (repository, assistant, moderation, verifier), so Phase 2 swaps in a backend, company SSO, AI moderation and an AI assistant without rewriting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works on two levels. For people: faster answers, a safe voice, recognition and a gentle route to support. For ABB: fewer repetitive tickets, shared know-how and early, anonymous signals. We will not promise numbers before a pilot; these four metrics are how we will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risk has a design answer already in the prototype or the Phase 2 plan. Privacy and anonymity come first, because without trust no one will post. Crisis content is never blocked; it is routed to support. Gamification is capped and never tied to performance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The prototype is done. To run a one-site pilot of about 12 weeks we need an executive sponsor, a pilot site, HR and IT owners for official answers, and privacy, legal and works-council review. Capy is ready when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48840"/>
            <a:ext cx="640080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337560"/>
            <a:ext cx="6217920" cy="137160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6B7690"/>
                </a:solidFill>
              </a:rPr>
              <a:t>ABB Help Me  ·  Concept pitch</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3.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late"/>
          <p:cNvSpPr/>
          <p:nvPr/>
        </p:nvSpPr>
        <p:spPr>
          <a:xfrm>
            <a:off x="640080" y="594360"/>
            <a:ext cx="2788920" cy="731520"/>
          </a:xfrm>
          <a:prstGeom prst="roundRect">
            <a:avLst>
              <a:gd name="adj" fmla="val 12500"/>
            </a:avLst>
          </a:prstGeom>
          <a:solidFill>
            <a:schemeClr val="bg1"/>
          </a:solidFill>
          <a:ln/>
        </p:spPr>
      </p:sp>
      <p:pic>
        <p:nvPicPr>
          <p:cNvPr id="3" name="Image 0" descr="ABB logo">    </p:cNvPr>
          <p:cNvPicPr>
            <a:picLocks noChangeAspect="1"/>
          </p:cNvPicPr>
          <p:nvPr/>
        </p:nvPicPr>
        <p:blipFill>
          <a:blip r:embed="rId1"/>
          <a:stretch>
            <a:fillRect/>
          </a:stretch>
        </p:blipFill>
        <p:spPr>
          <a:xfrm>
            <a:off x="822960" y="713232"/>
            <a:ext cx="1243584" cy="493776"/>
          </a:xfrm>
          <a:prstGeom prst="rect">
            <a:avLst/>
          </a:prstGeom>
        </p:spPr>
      </p:pic>
      <p:sp>
        <p:nvSpPr>
          <p:cNvPr id="4" name="Shape 1"/>
          <p:cNvSpPr/>
          <p:nvPr/>
        </p:nvSpPr>
        <p:spPr>
          <a:xfrm>
            <a:off x="2212848" y="758952"/>
            <a:ext cx="0" cy="402336"/>
          </a:xfrm>
          <a:prstGeom prst="line">
            <a:avLst/>
          </a:prstGeom>
          <a:noFill/>
          <a:ln w="12700">
            <a:solidFill>
              <a:srgbClr val="E3E7EF"/>
            </a:solidFill>
            <a:prstDash val="solid"/>
          </a:ln>
        </p:spPr>
      </p:sp>
      <p:sp>
        <p:nvSpPr>
          <p:cNvPr id="5" name="Text 2"/>
          <p:cNvSpPr txBox="1"/>
          <p:nvPr/>
        </p:nvSpPr>
        <p:spPr>
          <a:xfrm>
            <a:off x="2359152" y="713232"/>
            <a:ext cx="1005840" cy="493776"/>
          </a:xfrm>
          <a:prstGeom prst="rect">
            <a:avLst/>
          </a:prstGeom>
          <a:noFill/>
          <a:ln/>
        </p:spPr>
        <p:txBody>
          <a:bodyPr wrap="square" lIns="0" tIns="0" rIns="0" bIns="0" rtlCol="0" anchor="ctr"/>
          <a:lstStyle/>
          <a:p>
            <a:pPr indent="0" marL="0">
              <a:buNone/>
            </a:pPr>
            <a:r>
              <a:rPr lang="en-US" sz="1500" b="1" spc="100" kern="0" dirty="0">
                <a:solidFill>
                  <a:schemeClr val="tx1"/>
                </a:solidFill>
              </a:rPr>
              <a:t>HELP ME</a:t>
            </a:r>
            <a:endParaRPr lang="en-US" sz="1500" dirty="0"/>
          </a:p>
        </p:txBody>
      </p:sp>
      <p:sp>
        <p:nvSpPr>
          <p:cNvPr id="6" name="Text 3"/>
          <p:cNvSpPr txBox="1"/>
          <p:nvPr/>
        </p:nvSpPr>
        <p:spPr>
          <a:xfrm>
            <a:off x="640080" y="1691640"/>
            <a:ext cx="54864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CONCEPT PITCH  ·  OCTOBER 2026</a:t>
            </a:r>
            <a:endParaRPr lang="en-US" sz="1400" dirty="0"/>
          </a:p>
        </p:txBody>
      </p:sp>
      <p:sp>
        <p:nvSpPr>
          <p:cNvPr id="7" name="Text 0"/>
          <p:cNvSpPr/>
          <p:nvPr>
            <p:ph idx="100" type="title" hasCustomPrompt="1"/>
          </p:nvPr>
        </p:nvSpPr>
        <p:spPr>
          <a:xfrm>
            <a:off x="640080" y="2148840"/>
            <a:ext cx="6400800" cy="1097280"/>
          </a:xfrm>
          <a:prstGeom prst="rect">
            <a:avLst/>
          </a:prstGeom>
          <a:noFill/>
          <a:ln/>
        </p:spPr>
        <p:txBody>
          <a:bodyPr wrap="square" lIns="0" tIns="0" rIns="0" bIns="0" rtlCol="0" anchor="t"/>
          <a:lstStyle/>
          <a:p>
            <a:pPr algn="l" indent="0" marL="0">
              <a:buNone/>
            </a:pPr>
            <a:r>
              <a:rPr lang="en-US" sz="5400" b="1" dirty="0">
                <a:solidFill>
                  <a:schemeClr val="bg1"/>
                </a:solidFill>
              </a:rPr>
              <a:t>ABB Help Me</a:t>
            </a:r>
            <a:endParaRPr lang="en-US" sz="5400" dirty="0"/>
          </a:p>
        </p:txBody>
      </p:sp>
      <p:sp>
        <p:nvSpPr>
          <p:cNvPr id="8" name="Text 0"/>
          <p:cNvSpPr/>
          <p:nvPr>
            <p:ph idx="101" type="body" hasCustomPrompt="1"/>
          </p:nvPr>
        </p:nvSpPr>
        <p:spPr>
          <a:xfrm>
            <a:off x="640080" y="3337560"/>
            <a:ext cx="6217920" cy="1371600"/>
          </a:xfrm>
          <a:prstGeom prst="rect">
            <a:avLst/>
          </a:prstGeom>
          <a:noFill/>
          <a:ln/>
        </p:spPr>
        <p:txBody>
          <a:bodyPr wrap="square" lIns="0" tIns="0" rIns="0" bIns="0" rtlCol="0" anchor="t"/>
          <a:lstStyle/>
          <a:p>
            <a:pPr indent="0" marL="0">
              <a:buNone/>
            </a:pPr>
            <a:r>
              <a:rPr lang="en-US" sz="2000" b="1" dirty="0">
                <a:solidFill>
                  <a:schemeClr val="bg1"/>
                </a:solidFill>
              </a:rPr>
              <a:t>Real people. Real conversations.</a:t>
            </a:r>
            <a:endParaRPr lang="en-US" sz="2000" dirty="0"/>
          </a:p>
          <a:p>
            <a:pPr indent="0" marL="0">
              <a:buNone/>
            </a:pPr>
            <a:r>
              <a:rPr lang="en-US" sz="1800" dirty="0">
                <a:solidFill>
                  <a:schemeClr val="bg1"/>
                </a:solidFill>
              </a:rPr>
              <a:t>A safe, verified space where every ABB employee can ask, share and feel supported.</a:t>
            </a:r>
            <a:endParaRPr lang="en-US" sz="2000" dirty="0"/>
          </a:p>
        </p:txBody>
      </p:sp>
      <p:sp>
        <p:nvSpPr>
          <p:cNvPr id="9" name="Text 6"/>
          <p:cNvSpPr txBox="1"/>
          <p:nvPr/>
        </p:nvSpPr>
        <p:spPr>
          <a:xfrm>
            <a:off x="640080" y="5989320"/>
            <a:ext cx="6400800" cy="320040"/>
          </a:xfrm>
          <a:prstGeom prst="rect">
            <a:avLst/>
          </a:prstGeom>
          <a:noFill/>
          <a:ln/>
        </p:spPr>
        <p:txBody>
          <a:bodyPr wrap="square" lIns="0" tIns="0" rIns="0" bIns="0" rtlCol="0" anchor="t"/>
          <a:lstStyle/>
          <a:p>
            <a:pPr indent="0" marL="0">
              <a:buNone/>
            </a:pPr>
            <a:r>
              <a:rPr lang="en-US" sz="1200" dirty="0">
                <a:solidFill>
                  <a:schemeClr val="bg2"/>
                </a:solidFill>
              </a:rPr>
              <a:t>Working prototype  ·  Expo / React Native  ·  iOS, Android and web</a:t>
            </a:r>
            <a:endParaRPr lang="en-US" sz="1200" dirty="0"/>
          </a:p>
        </p:txBody>
      </p:sp>
      <p:sp>
        <p:nvSpPr>
          <p:cNvPr id="10" name="Capy halo"/>
          <p:cNvSpPr/>
          <p:nvPr/>
        </p:nvSpPr>
        <p:spPr>
          <a:xfrm>
            <a:off x="7452360" y="1143000"/>
            <a:ext cx="4114800" cy="4114800"/>
          </a:xfrm>
          <a:prstGeom prst="ellipse">
            <a:avLst/>
          </a:prstGeom>
          <a:solidFill>
            <a:schemeClr val="bg1"/>
          </a:solidFill>
          <a:ln/>
        </p:spPr>
      </p:sp>
      <p:pic>
        <p:nvPicPr>
          <p:cNvPr id="11" name="Image 1" descr="Capy, the app mascot, at a laptop">    </p:cNvPr>
          <p:cNvPicPr>
            <a:picLocks noChangeAspect="1"/>
          </p:cNvPicPr>
          <p:nvPr/>
        </p:nvPicPr>
        <p:blipFill>
          <a:blip r:embed="rId2"/>
          <a:stretch>
            <a:fillRect/>
          </a:stretch>
        </p:blipFill>
        <p:spPr>
          <a:xfrm>
            <a:off x="8037576" y="1463040"/>
            <a:ext cx="2944368" cy="3474720"/>
          </a:xfrm>
          <a:prstGeom prst="rect">
            <a:avLst/>
          </a:prstGeom>
        </p:spPr>
      </p:pic>
      <p:sp>
        <p:nvSpPr>
          <p:cNvPr id="12" name="Shape 8"/>
          <p:cNvSpPr/>
          <p:nvPr/>
        </p:nvSpPr>
        <p:spPr>
          <a:xfrm>
            <a:off x="9921240" y="685800"/>
            <a:ext cx="1920240" cy="566928"/>
          </a:xfrm>
          <a:prstGeom prst="roundRect">
            <a:avLst>
              <a:gd name="adj" fmla="val 32258"/>
            </a:avLst>
          </a:prstGeom>
          <a:solidFill>
            <a:schemeClr val="accent1"/>
          </a:solidFill>
          <a:ln/>
          <a:effectLst>
            <a:outerShdw sx="100000" sy="100000" kx="0" ky="0" algn="bl" rotWithShape="0" blurRad="101600" dist="25400" dir="5400000">
              <a:srgbClr val="0F1B33">
                <a:alpha val="10000"/>
              </a:srgbClr>
            </a:outerShdw>
          </a:effectLst>
        </p:spPr>
      </p:sp>
      <p:sp>
        <p:nvSpPr>
          <p:cNvPr id="13" name="Text 9"/>
          <p:cNvSpPr txBox="1"/>
          <p:nvPr/>
        </p:nvSpPr>
        <p:spPr>
          <a:xfrm>
            <a:off x="9921240" y="685800"/>
            <a:ext cx="1920240" cy="566928"/>
          </a:xfrm>
          <a:prstGeom prst="rect">
            <a:avLst/>
          </a:prstGeom>
          <a:noFill/>
          <a:ln/>
        </p:spPr>
        <p:txBody>
          <a:bodyPr wrap="square" lIns="0" tIns="0" rIns="0" bIns="0" rtlCol="0" anchor="ctr"/>
          <a:lstStyle/>
          <a:p>
            <a:pPr algn="ctr" indent="0" marL="0">
              <a:buNone/>
            </a:pPr>
            <a:r>
              <a:rPr lang="en-US" sz="1600" b="1" dirty="0">
                <a:solidFill>
                  <a:schemeClr val="bg1"/>
                </a:solidFill>
              </a:rPr>
              <a:t>Hi, I'm Capy!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Employees need help, but rarely know where to ask</a:t>
            </a: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lIns="0" tIns="0" rIns="0" bIns="0" rtlCol="0" anchor="t"/>
          <a:lstStyle/>
          <a:p>
            <a:pPr indent="0" marL="0">
              <a:buNone/>
            </a:pPr>
            <a:r>
              <a:rPr lang="en-US" sz="1600" dirty="0">
                <a:solidFill>
                  <a:schemeClr val="tx2"/>
                </a:solidFill>
              </a:rPr>
              <a:t>Three needs come up again and again, whether you are an intern, an engineer or a manager:</a:t>
            </a:r>
            <a:endParaRPr lang="en-US" sz="1600" dirty="0"/>
          </a:p>
        </p:txBody>
      </p:sp>
      <p:sp>
        <p:nvSpPr>
          <p:cNvPr id="4" name="Need 1"/>
          <p:cNvSpPr/>
          <p:nvPr/>
        </p:nvSpPr>
        <p:spPr>
          <a:xfrm>
            <a:off x="548640" y="1691640"/>
            <a:ext cx="6766560" cy="1298448"/>
          </a:xfrm>
          <a:prstGeom prst="roundRect">
            <a:avLst>
              <a:gd name="adj" fmla="val 8451"/>
            </a:avLst>
          </a:prstGeom>
          <a:solidFill>
            <a:schemeClr val="bg2"/>
          </a:solidFill>
          <a:ln/>
        </p:spPr>
      </p:sp>
      <p:sp>
        <p:nvSpPr>
          <p:cNvPr id="5" name="Need icon 1"/>
          <p:cNvSpPr/>
          <p:nvPr/>
        </p:nvSpPr>
        <p:spPr>
          <a:xfrm>
            <a:off x="777240" y="1975104"/>
            <a:ext cx="731520" cy="731520"/>
          </a:xfrm>
          <a:prstGeom prst="roundRect">
            <a:avLst>
              <a:gd name="adj" fmla="val 28000"/>
            </a:avLst>
          </a:prstGeom>
          <a:solidFill>
            <a:schemeClr val="accent2">
              <a:alpha val="14000"/>
            </a:schemeClr>
          </a:solidFill>
          <a:ln/>
        </p:spPr>
      </p:sp>
      <p:pic>
        <p:nvPicPr>
          <p:cNvPr id="6" name="Image 0" descr="preencoded.png">    </p:cNvPr>
          <p:cNvPicPr>
            <a:picLocks noChangeAspect="1"/>
          </p:cNvPicPr>
          <p:nvPr/>
        </p:nvPicPr>
        <p:blipFill>
          <a:blip r:embed="rId1"/>
          <a:stretch>
            <a:fillRect/>
          </a:stretch>
        </p:blipFill>
        <p:spPr>
          <a:xfrm>
            <a:off x="952805" y="2150669"/>
            <a:ext cx="380390" cy="380390"/>
          </a:xfrm>
          <a:prstGeom prst="rect">
            <a:avLst/>
          </a:prstGeom>
        </p:spPr>
      </p:pic>
      <p:sp>
        <p:nvSpPr>
          <p:cNvPr id="7" name="Text 4"/>
          <p:cNvSpPr txBox="1"/>
          <p:nvPr/>
        </p:nvSpPr>
        <p:spPr>
          <a:xfrm>
            <a:off x="1783080" y="1920240"/>
            <a:ext cx="5303520" cy="365760"/>
          </a:xfrm>
          <a:prstGeom prst="rect">
            <a:avLst/>
          </a:prstGeom>
          <a:noFill/>
          <a:ln/>
        </p:spPr>
        <p:txBody>
          <a:bodyPr wrap="square" lIns="0" tIns="0" rIns="0" bIns="0" rtlCol="0" anchor="t"/>
          <a:lstStyle/>
          <a:p>
            <a:pPr indent="0" marL="0">
              <a:buNone/>
            </a:pPr>
            <a:r>
              <a:rPr lang="en-US" sz="1900" b="1" dirty="0">
                <a:solidFill>
                  <a:schemeClr val="tx1"/>
                </a:solidFill>
              </a:rPr>
              <a:t>“I need an answer.”</a:t>
            </a:r>
            <a:endParaRPr lang="en-US" sz="1900" dirty="0"/>
          </a:p>
        </p:txBody>
      </p:sp>
      <p:sp>
        <p:nvSpPr>
          <p:cNvPr id="8" name="Text 5"/>
          <p:cNvSpPr txBox="1"/>
          <p:nvPr/>
        </p:nvSpPr>
        <p:spPr>
          <a:xfrm>
            <a:off x="1783080" y="2331720"/>
            <a:ext cx="5303520" cy="548640"/>
          </a:xfrm>
          <a:prstGeom prst="rect">
            <a:avLst/>
          </a:prstGeom>
          <a:noFill/>
          <a:ln/>
        </p:spPr>
        <p:txBody>
          <a:bodyPr wrap="square" lIns="0" tIns="0" rIns="0" bIns="0" rtlCol="0" anchor="t"/>
          <a:lstStyle/>
          <a:p>
            <a:pPr indent="0" marL="0">
              <a:buNone/>
            </a:pPr>
            <a:r>
              <a:rPr lang="en-US" sz="1500" dirty="0">
                <a:solidFill>
                  <a:schemeClr val="tx2"/>
                </a:solidFill>
              </a:rPr>
              <a:t>Leave, VPN, a policy: fast and correct, from a source I can trust.</a:t>
            </a:r>
            <a:endParaRPr lang="en-US" sz="1500" dirty="0"/>
          </a:p>
        </p:txBody>
      </p:sp>
      <p:sp>
        <p:nvSpPr>
          <p:cNvPr id="9" name="Need 2"/>
          <p:cNvSpPr/>
          <p:nvPr/>
        </p:nvSpPr>
        <p:spPr>
          <a:xfrm>
            <a:off x="548640" y="3172968"/>
            <a:ext cx="6766560" cy="1298448"/>
          </a:xfrm>
          <a:prstGeom prst="roundRect">
            <a:avLst>
              <a:gd name="adj" fmla="val 8451"/>
            </a:avLst>
          </a:prstGeom>
          <a:solidFill>
            <a:schemeClr val="bg2"/>
          </a:solidFill>
          <a:ln/>
        </p:spPr>
      </p:sp>
      <p:sp>
        <p:nvSpPr>
          <p:cNvPr id="10" name="Need icon 2"/>
          <p:cNvSpPr/>
          <p:nvPr/>
        </p:nvSpPr>
        <p:spPr>
          <a:xfrm>
            <a:off x="777240" y="3456432"/>
            <a:ext cx="731520" cy="731520"/>
          </a:xfrm>
          <a:prstGeom prst="roundRect">
            <a:avLst>
              <a:gd name="adj" fmla="val 28000"/>
            </a:avLst>
          </a:prstGeom>
          <a:solidFill>
            <a:schemeClr val="accent5">
              <a:alpha val="14000"/>
            </a:schemeClr>
          </a:solidFill>
          <a:ln/>
        </p:spPr>
      </p:sp>
      <p:pic>
        <p:nvPicPr>
          <p:cNvPr id="11" name="Image 1" descr="preencoded.png">    </p:cNvPr>
          <p:cNvPicPr>
            <a:picLocks noChangeAspect="1"/>
          </p:cNvPicPr>
          <p:nvPr/>
        </p:nvPicPr>
        <p:blipFill>
          <a:blip r:embed="rId2"/>
          <a:stretch>
            <a:fillRect/>
          </a:stretch>
        </p:blipFill>
        <p:spPr>
          <a:xfrm>
            <a:off x="952805" y="3631997"/>
            <a:ext cx="380390" cy="380390"/>
          </a:xfrm>
          <a:prstGeom prst="rect">
            <a:avLst/>
          </a:prstGeom>
        </p:spPr>
      </p:pic>
      <p:sp>
        <p:nvSpPr>
          <p:cNvPr id="12" name="Text 8"/>
          <p:cNvSpPr txBox="1"/>
          <p:nvPr/>
        </p:nvSpPr>
        <p:spPr>
          <a:xfrm>
            <a:off x="1783080" y="3401568"/>
            <a:ext cx="5303520" cy="365760"/>
          </a:xfrm>
          <a:prstGeom prst="rect">
            <a:avLst/>
          </a:prstGeom>
          <a:noFill/>
          <a:ln/>
        </p:spPr>
        <p:txBody>
          <a:bodyPr wrap="square" lIns="0" tIns="0" rIns="0" bIns="0" rtlCol="0" anchor="t"/>
          <a:lstStyle/>
          <a:p>
            <a:pPr indent="0" marL="0">
              <a:buNone/>
            </a:pPr>
            <a:r>
              <a:rPr lang="en-US" sz="1900" b="1" dirty="0">
                <a:solidFill>
                  <a:schemeClr val="tx1"/>
                </a:solidFill>
              </a:rPr>
              <a:t>“I need to say something safely.”</a:t>
            </a:r>
            <a:endParaRPr lang="en-US" sz="1900" dirty="0"/>
          </a:p>
        </p:txBody>
      </p:sp>
      <p:sp>
        <p:nvSpPr>
          <p:cNvPr id="13" name="Text 9"/>
          <p:cNvSpPr txBox="1"/>
          <p:nvPr/>
        </p:nvSpPr>
        <p:spPr>
          <a:xfrm>
            <a:off x="1783080" y="3813048"/>
            <a:ext cx="5303520" cy="548640"/>
          </a:xfrm>
          <a:prstGeom prst="rect">
            <a:avLst/>
          </a:prstGeom>
          <a:noFill/>
          <a:ln/>
        </p:spPr>
        <p:txBody>
          <a:bodyPr wrap="square" lIns="0" tIns="0" rIns="0" bIns="0" rtlCol="0" anchor="t"/>
          <a:lstStyle/>
          <a:p>
            <a:pPr indent="0" marL="0">
              <a:buNone/>
            </a:pPr>
            <a:r>
              <a:rPr lang="en-US" sz="1500" dirty="0">
                <a:solidFill>
                  <a:schemeClr val="tx2"/>
                </a:solidFill>
              </a:rPr>
              <a:t>Stress, a difficult manager, a doubt. I'll only speak if it can't be traced back to me.</a:t>
            </a:r>
            <a:endParaRPr lang="en-US" sz="1500" dirty="0"/>
          </a:p>
        </p:txBody>
      </p:sp>
      <p:sp>
        <p:nvSpPr>
          <p:cNvPr id="14" name="Need 3"/>
          <p:cNvSpPr/>
          <p:nvPr/>
        </p:nvSpPr>
        <p:spPr>
          <a:xfrm>
            <a:off x="548640" y="4654296"/>
            <a:ext cx="6766560" cy="1298448"/>
          </a:xfrm>
          <a:prstGeom prst="roundRect">
            <a:avLst>
              <a:gd name="adj" fmla="val 8451"/>
            </a:avLst>
          </a:prstGeom>
          <a:solidFill>
            <a:schemeClr val="bg2"/>
          </a:solidFill>
          <a:ln/>
        </p:spPr>
      </p:sp>
      <p:sp>
        <p:nvSpPr>
          <p:cNvPr id="15" name="Need icon 3"/>
          <p:cNvSpPr/>
          <p:nvPr/>
        </p:nvSpPr>
        <p:spPr>
          <a:xfrm>
            <a:off x="777240" y="4937760"/>
            <a:ext cx="731520" cy="731520"/>
          </a:xfrm>
          <a:prstGeom prst="roundRect">
            <a:avLst>
              <a:gd name="adj" fmla="val 28000"/>
            </a:avLst>
          </a:prstGeom>
          <a:solidFill>
            <a:schemeClr val="accent4">
              <a:alpha val="14000"/>
            </a:schemeClr>
          </a:solidFill>
          <a:ln/>
        </p:spPr>
      </p:sp>
      <p:pic>
        <p:nvPicPr>
          <p:cNvPr id="16" name="Image 2" descr="preencoded.png">    </p:cNvPr>
          <p:cNvPicPr>
            <a:picLocks noChangeAspect="1"/>
          </p:cNvPicPr>
          <p:nvPr/>
        </p:nvPicPr>
        <p:blipFill>
          <a:blip r:embed="rId3"/>
          <a:stretch>
            <a:fillRect/>
          </a:stretch>
        </p:blipFill>
        <p:spPr>
          <a:xfrm>
            <a:off x="952805" y="5113325"/>
            <a:ext cx="380390" cy="380390"/>
          </a:xfrm>
          <a:prstGeom prst="rect">
            <a:avLst/>
          </a:prstGeom>
        </p:spPr>
      </p:pic>
      <p:sp>
        <p:nvSpPr>
          <p:cNvPr id="17" name="Text 12"/>
          <p:cNvSpPr txBox="1"/>
          <p:nvPr/>
        </p:nvSpPr>
        <p:spPr>
          <a:xfrm>
            <a:off x="1783080" y="4882896"/>
            <a:ext cx="5303520" cy="365760"/>
          </a:xfrm>
          <a:prstGeom prst="rect">
            <a:avLst/>
          </a:prstGeom>
          <a:noFill/>
          <a:ln/>
        </p:spPr>
        <p:txBody>
          <a:bodyPr wrap="square" lIns="0" tIns="0" rIns="0" bIns="0" rtlCol="0" anchor="t"/>
          <a:lstStyle/>
          <a:p>
            <a:pPr indent="0" marL="0">
              <a:buNone/>
            </a:pPr>
            <a:r>
              <a:rPr lang="en-US" sz="1900" b="1" dirty="0">
                <a:solidFill>
                  <a:schemeClr val="tx1"/>
                </a:solidFill>
              </a:rPr>
              <a:t>“I want to be seen.”</a:t>
            </a:r>
            <a:endParaRPr lang="en-US" sz="1900" dirty="0"/>
          </a:p>
        </p:txBody>
      </p:sp>
      <p:sp>
        <p:nvSpPr>
          <p:cNvPr id="18" name="Text 13"/>
          <p:cNvSpPr txBox="1"/>
          <p:nvPr/>
        </p:nvSpPr>
        <p:spPr>
          <a:xfrm>
            <a:off x="1783080" y="5294376"/>
            <a:ext cx="5303520" cy="548640"/>
          </a:xfrm>
          <a:prstGeom prst="rect">
            <a:avLst/>
          </a:prstGeom>
          <a:noFill/>
          <a:ln/>
        </p:spPr>
        <p:txBody>
          <a:bodyPr wrap="square" lIns="0" tIns="0" rIns="0" bIns="0" rtlCol="0" anchor="t"/>
          <a:lstStyle/>
          <a:p>
            <a:pPr indent="0" marL="0">
              <a:buNone/>
            </a:pPr>
            <a:r>
              <a:rPr lang="en-US" sz="1500" dirty="0">
                <a:solidFill>
                  <a:schemeClr val="tx2"/>
                </a:solidFill>
              </a:rPr>
              <a:t>Recognition for helping others and for wins, especially as an intern or new joiner.</a:t>
            </a:r>
            <a:endParaRPr lang="en-US" sz="1500" dirty="0"/>
          </a:p>
        </p:txBody>
      </p:sp>
      <p:sp>
        <p:nvSpPr>
          <p:cNvPr id="19" name="Stat 1"/>
          <p:cNvSpPr/>
          <p:nvPr/>
        </p:nvSpPr>
        <p:spPr>
          <a:xfrm>
            <a:off x="7635240" y="1691640"/>
            <a:ext cx="4005072" cy="2148840"/>
          </a:xfrm>
          <a:prstGeom prst="roundRect">
            <a:avLst>
              <a:gd name="adj" fmla="val 5106"/>
            </a:avLst>
          </a:prstGeom>
          <a:solidFill>
            <a:schemeClr val="tx1"/>
          </a:solidFill>
          <a:ln/>
        </p:spPr>
      </p:sp>
      <p:sp>
        <p:nvSpPr>
          <p:cNvPr id="20" name="Text 15"/>
          <p:cNvSpPr txBox="1"/>
          <p:nvPr/>
        </p:nvSpPr>
        <p:spPr>
          <a:xfrm>
            <a:off x="7909560" y="1874520"/>
            <a:ext cx="3566160" cy="82296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12 bn</a:t>
            </a:r>
            <a:endParaRPr lang="en-US" sz="5400" dirty="0"/>
          </a:p>
        </p:txBody>
      </p:sp>
      <p:sp>
        <p:nvSpPr>
          <p:cNvPr id="21" name="Text 16"/>
          <p:cNvSpPr txBox="1"/>
          <p:nvPr/>
        </p:nvSpPr>
        <p:spPr>
          <a:xfrm>
            <a:off x="7909560" y="2743200"/>
            <a:ext cx="3520440" cy="914400"/>
          </a:xfrm>
          <a:prstGeom prst="rect">
            <a:avLst/>
          </a:prstGeom>
          <a:noFill/>
          <a:ln/>
        </p:spPr>
        <p:txBody>
          <a:bodyPr wrap="square" lIns="0" tIns="0" rIns="0" bIns="0" rtlCol="0" anchor="t"/>
          <a:lstStyle/>
          <a:p>
            <a:pPr indent="0" marL="0">
              <a:buNone/>
            </a:pPr>
            <a:r>
              <a:rPr lang="en-US" sz="1500" dirty="0">
                <a:solidFill>
                  <a:schemeClr val="bg2"/>
                </a:solidFill>
              </a:rPr>
              <a:t>working days are lost every year to depression and anxiety, about US$1 trillion in productivity</a:t>
            </a:r>
            <a:endParaRPr lang="en-US" sz="1500" dirty="0"/>
          </a:p>
        </p:txBody>
      </p:sp>
      <p:sp>
        <p:nvSpPr>
          <p:cNvPr id="22" name="Stat 2"/>
          <p:cNvSpPr/>
          <p:nvPr/>
        </p:nvSpPr>
        <p:spPr>
          <a:xfrm>
            <a:off x="7635240" y="4023360"/>
            <a:ext cx="4005072" cy="1920240"/>
          </a:xfrm>
          <a:prstGeom prst="roundRect">
            <a:avLst>
              <a:gd name="adj" fmla="val 5714"/>
            </a:avLst>
          </a:prstGeom>
          <a:solidFill>
            <a:schemeClr val="bg2"/>
          </a:solidFill>
          <a:ln/>
        </p:spPr>
      </p:sp>
      <p:sp>
        <p:nvSpPr>
          <p:cNvPr id="23" name="Text 18"/>
          <p:cNvSpPr txBox="1"/>
          <p:nvPr/>
        </p:nvSpPr>
        <p:spPr>
          <a:xfrm>
            <a:off x="7909560" y="4206240"/>
            <a:ext cx="3566160" cy="82296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21%</a:t>
            </a:r>
            <a:endParaRPr lang="en-US" sz="5400" dirty="0"/>
          </a:p>
        </p:txBody>
      </p:sp>
      <p:sp>
        <p:nvSpPr>
          <p:cNvPr id="24" name="Text 19"/>
          <p:cNvSpPr txBox="1"/>
          <p:nvPr/>
        </p:nvSpPr>
        <p:spPr>
          <a:xfrm>
            <a:off x="7909560" y="5074920"/>
            <a:ext cx="3520440" cy="640080"/>
          </a:xfrm>
          <a:prstGeom prst="rect">
            <a:avLst/>
          </a:prstGeom>
          <a:noFill/>
          <a:ln/>
        </p:spPr>
        <p:txBody>
          <a:bodyPr wrap="square" lIns="0" tIns="0" rIns="0" bIns="0" rtlCol="0" anchor="t"/>
          <a:lstStyle/>
          <a:p>
            <a:pPr indent="0" marL="0">
              <a:buNone/>
            </a:pPr>
            <a:r>
              <a:rPr lang="en-US" sz="1500" dirty="0">
                <a:solidFill>
                  <a:schemeClr val="tx2"/>
                </a:solidFill>
              </a:rPr>
              <a:t>of employees worldwide are engaged at work</a:t>
            </a:r>
            <a:endParaRPr lang="en-US" sz="1500" dirty="0"/>
          </a:p>
        </p:txBody>
      </p:sp>
      <p:sp>
        <p:nvSpPr>
          <p:cNvPr id="25" name="Text 20"/>
          <p:cNvSpPr txBox="1"/>
          <p:nvPr/>
        </p:nvSpPr>
        <p:spPr>
          <a:xfrm>
            <a:off x="548640" y="6053328"/>
            <a:ext cx="11064240" cy="256032"/>
          </a:xfrm>
          <a:prstGeom prst="rect">
            <a:avLst/>
          </a:prstGeom>
          <a:noFill/>
          <a:ln/>
        </p:spPr>
        <p:txBody>
          <a:bodyPr wrap="square" lIns="0" tIns="0" rIns="0" bIns="0" rtlCol="0" anchor="t"/>
          <a:lstStyle/>
          <a:p>
            <a:pPr indent="0" marL="0">
              <a:buNone/>
            </a:pPr>
            <a:r>
              <a:rPr lang="en-US" sz="1000" dirty="0">
                <a:solidFill>
                  <a:srgbClr val="6B7690"/>
                </a:solidFill>
              </a:rPr>
              <a:t>Sources: WHO &amp; ILO (2022), mental health at work; Gallup, State of the Global Workplace 2025.</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One app to ask, share and get support</a:t>
            </a: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lIns="0" tIns="0" rIns="0" bIns="0" rtlCol="0" anchor="t"/>
          <a:lstStyle/>
          <a:p>
            <a:pPr indent="0" marL="0">
              <a:buNone/>
            </a:pPr>
            <a:r>
              <a:rPr lang="en-US" sz="1600" dirty="0">
                <a:solidFill>
                  <a:schemeClr val="tx2"/>
                </a:solidFill>
              </a:rPr>
              <a:t>Capy guides employees to the right place, and every screen below is from the working prototype.</a:t>
            </a:r>
            <a:endParaRPr lang="en-US" sz="1600" dirty="0"/>
          </a:p>
        </p:txBody>
      </p:sp>
      <p:sp>
        <p:nvSpPr>
          <p:cNvPr id="4" name="Pillar icon 1"/>
          <p:cNvSpPr/>
          <p:nvPr/>
        </p:nvSpPr>
        <p:spPr>
          <a:xfrm>
            <a:off x="548640" y="1691640"/>
            <a:ext cx="640080" cy="640080"/>
          </a:xfrm>
          <a:prstGeom prst="roundRect">
            <a:avLst>
              <a:gd name="adj" fmla="val 28000"/>
            </a:avLst>
          </a:prstGeom>
          <a:solidFill>
            <a:schemeClr val="accent1">
              <a:alpha val="14000"/>
            </a:schemeClr>
          </a:solidFill>
          <a:ln/>
        </p:spPr>
      </p:sp>
      <p:pic>
        <p:nvPicPr>
          <p:cNvPr id="5" name="Image 0" descr="preencoded.png">    </p:cNvPr>
          <p:cNvPicPr>
            <a:picLocks noChangeAspect="1"/>
          </p:cNvPicPr>
          <p:nvPr/>
        </p:nvPicPr>
        <p:blipFill>
          <a:blip r:embed="rId1"/>
          <a:stretch>
            <a:fillRect/>
          </a:stretch>
        </p:blipFill>
        <p:spPr>
          <a:xfrm>
            <a:off x="702259" y="1845259"/>
            <a:ext cx="332842" cy="332842"/>
          </a:xfrm>
          <a:prstGeom prst="rect">
            <a:avLst/>
          </a:prstGeom>
        </p:spPr>
      </p:pic>
      <p:sp>
        <p:nvSpPr>
          <p:cNvPr id="6" name="Text 3"/>
          <p:cNvSpPr txBox="1"/>
          <p:nvPr/>
        </p:nvSpPr>
        <p:spPr>
          <a:xfrm>
            <a:off x="1371600" y="1709928"/>
            <a:ext cx="3291840" cy="320040"/>
          </a:xfrm>
          <a:prstGeom prst="rect">
            <a:avLst/>
          </a:prstGeom>
          <a:noFill/>
          <a:ln/>
        </p:spPr>
        <p:txBody>
          <a:bodyPr wrap="square" lIns="0" tIns="0" rIns="0" bIns="0" rtlCol="0" anchor="t"/>
          <a:lstStyle/>
          <a:p>
            <a:pPr indent="0" marL="0">
              <a:buNone/>
            </a:pPr>
            <a:r>
              <a:rPr lang="en-US" sz="1700" b="1" dirty="0">
                <a:solidFill>
                  <a:schemeClr val="tx1"/>
                </a:solidFill>
              </a:rPr>
              <a:t>Ask Capy</a:t>
            </a:r>
            <a:endParaRPr lang="en-US" sz="1700" dirty="0"/>
          </a:p>
        </p:txBody>
      </p:sp>
      <p:sp>
        <p:nvSpPr>
          <p:cNvPr id="7" name="Text 4"/>
          <p:cNvSpPr txBox="1"/>
          <p:nvPr/>
        </p:nvSpPr>
        <p:spPr>
          <a:xfrm>
            <a:off x="1371600" y="2039112"/>
            <a:ext cx="3291840" cy="292608"/>
          </a:xfrm>
          <a:prstGeom prst="rect">
            <a:avLst/>
          </a:prstGeom>
          <a:noFill/>
          <a:ln/>
        </p:spPr>
        <p:txBody>
          <a:bodyPr wrap="square" lIns="0" tIns="0" rIns="0" bIns="0" rtlCol="0" anchor="t"/>
          <a:lstStyle/>
          <a:p>
            <a:pPr indent="0" marL="0">
              <a:buNone/>
            </a:pPr>
            <a:r>
              <a:rPr lang="en-US" sz="1400" dirty="0">
                <a:solidFill>
                  <a:schemeClr val="tx2"/>
                </a:solidFill>
              </a:rPr>
              <a:t>Points you to the right resource</a:t>
            </a:r>
            <a:endParaRPr lang="en-US" sz="1400" dirty="0"/>
          </a:p>
        </p:txBody>
      </p:sp>
      <p:sp>
        <p:nvSpPr>
          <p:cNvPr id="8" name="Pillar icon 2"/>
          <p:cNvSpPr/>
          <p:nvPr/>
        </p:nvSpPr>
        <p:spPr>
          <a:xfrm>
            <a:off x="548640" y="2578608"/>
            <a:ext cx="640080" cy="640080"/>
          </a:xfrm>
          <a:prstGeom prst="roundRect">
            <a:avLst>
              <a:gd name="adj" fmla="val 28000"/>
            </a:avLst>
          </a:prstGeom>
          <a:solidFill>
            <a:schemeClr val="accent2">
              <a:alpha val="14000"/>
            </a:schemeClr>
          </a:solidFill>
          <a:ln/>
        </p:spPr>
      </p:sp>
      <p:pic>
        <p:nvPicPr>
          <p:cNvPr id="9" name="Image 1" descr="preencoded.png">    </p:cNvPr>
          <p:cNvPicPr>
            <a:picLocks noChangeAspect="1"/>
          </p:cNvPicPr>
          <p:nvPr/>
        </p:nvPicPr>
        <p:blipFill>
          <a:blip r:embed="rId2"/>
          <a:stretch>
            <a:fillRect/>
          </a:stretch>
        </p:blipFill>
        <p:spPr>
          <a:xfrm>
            <a:off x="702259" y="2732227"/>
            <a:ext cx="332842" cy="332842"/>
          </a:xfrm>
          <a:prstGeom prst="rect">
            <a:avLst/>
          </a:prstGeom>
        </p:spPr>
      </p:pic>
      <p:sp>
        <p:nvSpPr>
          <p:cNvPr id="10" name="Text 6"/>
          <p:cNvSpPr txBox="1"/>
          <p:nvPr/>
        </p:nvSpPr>
        <p:spPr>
          <a:xfrm>
            <a:off x="1371600" y="2596896"/>
            <a:ext cx="3291840" cy="320040"/>
          </a:xfrm>
          <a:prstGeom prst="rect">
            <a:avLst/>
          </a:prstGeom>
          <a:noFill/>
          <a:ln/>
        </p:spPr>
        <p:txBody>
          <a:bodyPr wrap="square" lIns="0" tIns="0" rIns="0" bIns="0" rtlCol="0" anchor="t"/>
          <a:lstStyle/>
          <a:p>
            <a:pPr indent="0" marL="0">
              <a:buNone/>
            </a:pPr>
            <a:r>
              <a:rPr lang="en-US" sz="1700" b="1" dirty="0">
                <a:solidFill>
                  <a:schemeClr val="tx1"/>
                </a:solidFill>
              </a:rPr>
              <a:t>Community Q&amp;A</a:t>
            </a:r>
            <a:endParaRPr lang="en-US" sz="1700" dirty="0"/>
          </a:p>
        </p:txBody>
      </p:sp>
      <p:sp>
        <p:nvSpPr>
          <p:cNvPr id="11" name="Text 7"/>
          <p:cNvSpPr txBox="1"/>
          <p:nvPr/>
        </p:nvSpPr>
        <p:spPr>
          <a:xfrm>
            <a:off x="1371600" y="2926080"/>
            <a:ext cx="3291840" cy="292608"/>
          </a:xfrm>
          <a:prstGeom prst="rect">
            <a:avLst/>
          </a:prstGeom>
          <a:noFill/>
          <a:ln/>
        </p:spPr>
        <p:txBody>
          <a:bodyPr wrap="square" lIns="0" tIns="0" rIns="0" bIns="0" rtlCol="0" anchor="t"/>
          <a:lstStyle/>
          <a:p>
            <a:pPr indent="0" marL="0">
              <a:buNone/>
            </a:pPr>
            <a:r>
              <a:rPr lang="en-US" sz="1400" dirty="0">
                <a:solidFill>
                  <a:schemeClr val="tx2"/>
                </a:solidFill>
              </a:rPr>
              <a:t>Verified, anonymous answers</a:t>
            </a:r>
            <a:endParaRPr lang="en-US" sz="1400" dirty="0"/>
          </a:p>
        </p:txBody>
      </p:sp>
      <p:sp>
        <p:nvSpPr>
          <p:cNvPr id="12" name="Pillar icon 3"/>
          <p:cNvSpPr/>
          <p:nvPr/>
        </p:nvSpPr>
        <p:spPr>
          <a:xfrm>
            <a:off x="548640" y="3465576"/>
            <a:ext cx="640080" cy="640080"/>
          </a:xfrm>
          <a:prstGeom prst="roundRect">
            <a:avLst>
              <a:gd name="adj" fmla="val 28000"/>
            </a:avLst>
          </a:prstGeom>
          <a:solidFill>
            <a:schemeClr val="accent3">
              <a:alpha val="14000"/>
            </a:schemeClr>
          </a:solidFill>
          <a:ln/>
        </p:spPr>
      </p:sp>
      <p:pic>
        <p:nvPicPr>
          <p:cNvPr id="13" name="Image 2" descr="preencoded.png">    </p:cNvPr>
          <p:cNvPicPr>
            <a:picLocks noChangeAspect="1"/>
          </p:cNvPicPr>
          <p:nvPr/>
        </p:nvPicPr>
        <p:blipFill>
          <a:blip r:embed="rId3"/>
          <a:stretch>
            <a:fillRect/>
          </a:stretch>
        </p:blipFill>
        <p:spPr>
          <a:xfrm>
            <a:off x="702259" y="3619195"/>
            <a:ext cx="332842" cy="332842"/>
          </a:xfrm>
          <a:prstGeom prst="rect">
            <a:avLst/>
          </a:prstGeom>
        </p:spPr>
      </p:pic>
      <p:sp>
        <p:nvSpPr>
          <p:cNvPr id="14" name="Text 9"/>
          <p:cNvSpPr txBox="1"/>
          <p:nvPr/>
        </p:nvSpPr>
        <p:spPr>
          <a:xfrm>
            <a:off x="1371600" y="3483864"/>
            <a:ext cx="3291840" cy="320040"/>
          </a:xfrm>
          <a:prstGeom prst="rect">
            <a:avLst/>
          </a:prstGeom>
          <a:noFill/>
          <a:ln/>
        </p:spPr>
        <p:txBody>
          <a:bodyPr wrap="square" lIns="0" tIns="0" rIns="0" bIns="0" rtlCol="0" anchor="t"/>
          <a:lstStyle/>
          <a:p>
            <a:pPr indent="0" marL="0">
              <a:buNone/>
            </a:pPr>
            <a:r>
              <a:rPr lang="en-US" sz="1700" b="1" dirty="0">
                <a:solidFill>
                  <a:schemeClr val="tx1"/>
                </a:solidFill>
              </a:rPr>
              <a:t>Well-being</a:t>
            </a:r>
            <a:endParaRPr lang="en-US" sz="1700" dirty="0"/>
          </a:p>
        </p:txBody>
      </p:sp>
      <p:sp>
        <p:nvSpPr>
          <p:cNvPr id="15" name="Text 10"/>
          <p:cNvSpPr txBox="1"/>
          <p:nvPr/>
        </p:nvSpPr>
        <p:spPr>
          <a:xfrm>
            <a:off x="1371600" y="3813048"/>
            <a:ext cx="3291840" cy="292608"/>
          </a:xfrm>
          <a:prstGeom prst="rect">
            <a:avLst/>
          </a:prstGeom>
          <a:noFill/>
          <a:ln/>
        </p:spPr>
        <p:txBody>
          <a:bodyPr wrap="square" lIns="0" tIns="0" rIns="0" bIns="0" rtlCol="0" anchor="t"/>
          <a:lstStyle/>
          <a:p>
            <a:pPr indent="0" marL="0">
              <a:buNone/>
            </a:pPr>
            <a:r>
              <a:rPr lang="en-US" sz="1400" dirty="0">
                <a:solidFill>
                  <a:schemeClr val="tx2"/>
                </a:solidFill>
              </a:rPr>
              <a:t>1-tap check-in, private trends</a:t>
            </a:r>
            <a:endParaRPr lang="en-US" sz="1400" dirty="0"/>
          </a:p>
        </p:txBody>
      </p:sp>
      <p:sp>
        <p:nvSpPr>
          <p:cNvPr id="16" name="Pillar icon 4"/>
          <p:cNvSpPr/>
          <p:nvPr/>
        </p:nvSpPr>
        <p:spPr>
          <a:xfrm>
            <a:off x="548640" y="4352544"/>
            <a:ext cx="640080" cy="640080"/>
          </a:xfrm>
          <a:prstGeom prst="roundRect">
            <a:avLst>
              <a:gd name="adj" fmla="val 28000"/>
            </a:avLst>
          </a:prstGeom>
          <a:solidFill>
            <a:schemeClr val="accent6">
              <a:alpha val="14000"/>
            </a:schemeClr>
          </a:solidFill>
          <a:ln/>
        </p:spPr>
      </p:sp>
      <p:pic>
        <p:nvPicPr>
          <p:cNvPr id="17" name="Image 3" descr="preencoded.png">    </p:cNvPr>
          <p:cNvPicPr>
            <a:picLocks noChangeAspect="1"/>
          </p:cNvPicPr>
          <p:nvPr/>
        </p:nvPicPr>
        <p:blipFill>
          <a:blip r:embed="rId4"/>
          <a:stretch>
            <a:fillRect/>
          </a:stretch>
        </p:blipFill>
        <p:spPr>
          <a:xfrm>
            <a:off x="702259" y="4506163"/>
            <a:ext cx="332842" cy="332842"/>
          </a:xfrm>
          <a:prstGeom prst="rect">
            <a:avLst/>
          </a:prstGeom>
        </p:spPr>
      </p:pic>
      <p:sp>
        <p:nvSpPr>
          <p:cNvPr id="18" name="Text 12"/>
          <p:cNvSpPr txBox="1"/>
          <p:nvPr/>
        </p:nvSpPr>
        <p:spPr>
          <a:xfrm>
            <a:off x="1371600" y="4370832"/>
            <a:ext cx="3291840" cy="320040"/>
          </a:xfrm>
          <a:prstGeom prst="rect">
            <a:avLst/>
          </a:prstGeom>
          <a:noFill/>
          <a:ln/>
        </p:spPr>
        <p:txBody>
          <a:bodyPr wrap="square" lIns="0" tIns="0" rIns="0" bIns="0" rtlCol="0" anchor="t"/>
          <a:lstStyle/>
          <a:p>
            <a:pPr indent="0" marL="0">
              <a:buNone/>
            </a:pPr>
            <a:r>
              <a:rPr lang="en-US" sz="1700" b="1" dirty="0">
                <a:solidFill>
                  <a:schemeClr val="tx1"/>
                </a:solidFill>
              </a:rPr>
              <a:t>Resources</a:t>
            </a:r>
            <a:endParaRPr lang="en-US" sz="1700" dirty="0"/>
          </a:p>
        </p:txBody>
      </p:sp>
      <p:sp>
        <p:nvSpPr>
          <p:cNvPr id="19" name="Text 13"/>
          <p:cNvSpPr txBox="1"/>
          <p:nvPr/>
        </p:nvSpPr>
        <p:spPr>
          <a:xfrm>
            <a:off x="1371600" y="4700016"/>
            <a:ext cx="3291840" cy="292608"/>
          </a:xfrm>
          <a:prstGeom prst="rect">
            <a:avLst/>
          </a:prstGeom>
          <a:noFill/>
          <a:ln/>
        </p:spPr>
        <p:txBody>
          <a:bodyPr wrap="square" lIns="0" tIns="0" rIns="0" bIns="0" rtlCol="0" anchor="t"/>
          <a:lstStyle/>
          <a:p>
            <a:pPr indent="0" marL="0">
              <a:buNone/>
            </a:pPr>
            <a:r>
              <a:rPr lang="en-US" sz="1400" dirty="0">
                <a:solidFill>
                  <a:schemeClr val="tx2"/>
                </a:solidFill>
              </a:rPr>
              <a:t>HR, IT, EAP and policies together</a:t>
            </a:r>
            <a:endParaRPr lang="en-US" sz="1400" dirty="0"/>
          </a:p>
        </p:txBody>
      </p:sp>
      <p:sp>
        <p:nvSpPr>
          <p:cNvPr id="20" name="Pillar icon 5"/>
          <p:cNvSpPr/>
          <p:nvPr/>
        </p:nvSpPr>
        <p:spPr>
          <a:xfrm>
            <a:off x="548640" y="5239512"/>
            <a:ext cx="640080" cy="640080"/>
          </a:xfrm>
          <a:prstGeom prst="roundRect">
            <a:avLst>
              <a:gd name="adj" fmla="val 28000"/>
            </a:avLst>
          </a:prstGeom>
          <a:solidFill>
            <a:schemeClr val="accent4">
              <a:alpha val="14000"/>
            </a:schemeClr>
          </a:solidFill>
          <a:ln/>
        </p:spPr>
      </p:sp>
      <p:pic>
        <p:nvPicPr>
          <p:cNvPr id="21" name="Image 4" descr="preencoded.png">    </p:cNvPr>
          <p:cNvPicPr>
            <a:picLocks noChangeAspect="1"/>
          </p:cNvPicPr>
          <p:nvPr/>
        </p:nvPicPr>
        <p:blipFill>
          <a:blip r:embed="rId5"/>
          <a:stretch>
            <a:fillRect/>
          </a:stretch>
        </p:blipFill>
        <p:spPr>
          <a:xfrm>
            <a:off x="702259" y="5393131"/>
            <a:ext cx="332842" cy="332842"/>
          </a:xfrm>
          <a:prstGeom prst="rect">
            <a:avLst/>
          </a:prstGeom>
        </p:spPr>
      </p:pic>
      <p:sp>
        <p:nvSpPr>
          <p:cNvPr id="22" name="Text 15"/>
          <p:cNvSpPr txBox="1"/>
          <p:nvPr/>
        </p:nvSpPr>
        <p:spPr>
          <a:xfrm>
            <a:off x="1371600" y="5257800"/>
            <a:ext cx="3291840" cy="320040"/>
          </a:xfrm>
          <a:prstGeom prst="rect">
            <a:avLst/>
          </a:prstGeom>
          <a:noFill/>
          <a:ln/>
        </p:spPr>
        <p:txBody>
          <a:bodyPr wrap="square" lIns="0" tIns="0" rIns="0" bIns="0" rtlCol="0" anchor="t"/>
          <a:lstStyle/>
          <a:p>
            <a:pPr indent="0" marL="0">
              <a:buNone/>
            </a:pPr>
            <a:r>
              <a:rPr lang="en-US" sz="1700" b="1" dirty="0">
                <a:solidFill>
                  <a:schemeClr val="tx1"/>
                </a:solidFill>
              </a:rPr>
              <a:t>Recognition</a:t>
            </a:r>
            <a:endParaRPr lang="en-US" sz="1700" dirty="0"/>
          </a:p>
        </p:txBody>
      </p:sp>
      <p:sp>
        <p:nvSpPr>
          <p:cNvPr id="23" name="Text 16"/>
          <p:cNvSpPr txBox="1"/>
          <p:nvPr/>
        </p:nvSpPr>
        <p:spPr>
          <a:xfrm>
            <a:off x="1371600" y="5586984"/>
            <a:ext cx="3291840" cy="292608"/>
          </a:xfrm>
          <a:prstGeom prst="rect">
            <a:avLst/>
          </a:prstGeom>
          <a:noFill/>
          <a:ln/>
        </p:spPr>
        <p:txBody>
          <a:bodyPr wrap="square" lIns="0" tIns="0" rIns="0" bIns="0" rtlCol="0" anchor="t"/>
          <a:lstStyle/>
          <a:p>
            <a:pPr indent="0" marL="0">
              <a:buNone/>
            </a:pPr>
            <a:r>
              <a:rPr lang="en-US" sz="1400" dirty="0">
                <a:solidFill>
                  <a:schemeClr val="tx2"/>
                </a:solidFill>
              </a:rPr>
              <a:t>Achievements and a helpfulness score</a:t>
            </a:r>
            <a:endParaRPr lang="en-US" sz="1400" dirty="0"/>
          </a:p>
        </p:txBody>
      </p:sp>
      <p:sp>
        <p:nvSpPr>
          <p:cNvPr id="24" name="Phone 1"/>
          <p:cNvSpPr/>
          <p:nvPr/>
        </p:nvSpPr>
        <p:spPr>
          <a:xfrm>
            <a:off x="5074920" y="1600200"/>
            <a:ext cx="2020824" cy="4202958"/>
          </a:xfrm>
          <a:prstGeom prst="roundRect">
            <a:avLst>
              <a:gd name="adj" fmla="val 9955"/>
            </a:avLst>
          </a:prstGeom>
          <a:solidFill>
            <a:schemeClr val="tx1"/>
          </a:solidFill>
          <a:ln/>
          <a:effectLst>
            <a:outerShdw sx="100000" sy="100000" kx="0" ky="0" algn="bl" rotWithShape="0" blurRad="101600" dist="25400" dir="5400000">
              <a:srgbClr val="0F1B33">
                <a:alpha val="10000"/>
              </a:srgbClr>
            </a:outerShdw>
          </a:effectLst>
        </p:spPr>
      </p:sp>
      <p:pic>
        <p:nvPicPr>
          <p:cNvPr id="25" name="Image 5" descr="Home: Capy greets you">    </p:cNvPr>
          <p:cNvPicPr>
            <a:picLocks noChangeAspect="1"/>
          </p:cNvPicPr>
          <p:nvPr/>
        </p:nvPicPr>
        <p:blipFill>
          <a:blip r:embed="rId6"/>
          <a:stretch>
            <a:fillRect/>
          </a:stretch>
        </p:blipFill>
        <p:spPr>
          <a:xfrm>
            <a:off x="5148072" y="1673352"/>
            <a:ext cx="1874520" cy="4056654"/>
          </a:xfrm>
          <a:prstGeom prst="rect">
            <a:avLst/>
          </a:prstGeom>
        </p:spPr>
      </p:pic>
      <p:sp>
        <p:nvSpPr>
          <p:cNvPr id="26" name="Text 18"/>
          <p:cNvSpPr txBox="1"/>
          <p:nvPr/>
        </p:nvSpPr>
        <p:spPr>
          <a:xfrm>
            <a:off x="5074920" y="5894598"/>
            <a:ext cx="2020824" cy="274320"/>
          </a:xfrm>
          <a:prstGeom prst="rect">
            <a:avLst/>
          </a:prstGeom>
          <a:noFill/>
          <a:ln/>
        </p:spPr>
        <p:txBody>
          <a:bodyPr wrap="square" lIns="0" tIns="0" rIns="0" bIns="0" rtlCol="0" anchor="t"/>
          <a:lstStyle/>
          <a:p>
            <a:pPr algn="ctr" indent="0" marL="0">
              <a:buNone/>
            </a:pPr>
            <a:r>
              <a:rPr lang="en-US" sz="1200" dirty="0">
                <a:solidFill>
                  <a:srgbClr val="6B7690"/>
                </a:solidFill>
              </a:rPr>
              <a:t>Home: Capy greets you</a:t>
            </a:r>
            <a:endParaRPr lang="en-US" sz="1200" dirty="0"/>
          </a:p>
        </p:txBody>
      </p:sp>
      <p:sp>
        <p:nvSpPr>
          <p:cNvPr id="27" name="Phone 2"/>
          <p:cNvSpPr/>
          <p:nvPr/>
        </p:nvSpPr>
        <p:spPr>
          <a:xfrm>
            <a:off x="7342632" y="1600200"/>
            <a:ext cx="2020824" cy="4202958"/>
          </a:xfrm>
          <a:prstGeom prst="roundRect">
            <a:avLst>
              <a:gd name="adj" fmla="val 9955"/>
            </a:avLst>
          </a:prstGeom>
          <a:solidFill>
            <a:schemeClr val="tx1"/>
          </a:solidFill>
          <a:ln/>
          <a:effectLst>
            <a:outerShdw sx="100000" sy="100000" kx="0" ky="0" algn="bl" rotWithShape="0" blurRad="101600" dist="25400" dir="5400000">
              <a:srgbClr val="0F1B33">
                <a:alpha val="10000"/>
              </a:srgbClr>
            </a:outerShdw>
          </a:effectLst>
        </p:spPr>
      </p:sp>
      <p:pic>
        <p:nvPicPr>
          <p:cNvPr id="28" name="Image 6" descr="Community: most helpful first">    </p:cNvPr>
          <p:cNvPicPr>
            <a:picLocks noChangeAspect="1"/>
          </p:cNvPicPr>
          <p:nvPr/>
        </p:nvPicPr>
        <p:blipFill>
          <a:blip r:embed="rId7"/>
          <a:stretch>
            <a:fillRect/>
          </a:stretch>
        </p:blipFill>
        <p:spPr>
          <a:xfrm>
            <a:off x="7415784" y="1673352"/>
            <a:ext cx="1874520" cy="4056654"/>
          </a:xfrm>
          <a:prstGeom prst="rect">
            <a:avLst/>
          </a:prstGeom>
        </p:spPr>
      </p:pic>
      <p:sp>
        <p:nvSpPr>
          <p:cNvPr id="29" name="Text 20"/>
          <p:cNvSpPr txBox="1"/>
          <p:nvPr/>
        </p:nvSpPr>
        <p:spPr>
          <a:xfrm>
            <a:off x="7342632" y="5894598"/>
            <a:ext cx="2020824" cy="274320"/>
          </a:xfrm>
          <a:prstGeom prst="rect">
            <a:avLst/>
          </a:prstGeom>
          <a:noFill/>
          <a:ln/>
        </p:spPr>
        <p:txBody>
          <a:bodyPr wrap="square" lIns="0" tIns="0" rIns="0" bIns="0" rtlCol="0" anchor="t"/>
          <a:lstStyle/>
          <a:p>
            <a:pPr algn="ctr" indent="0" marL="0">
              <a:buNone/>
            </a:pPr>
            <a:r>
              <a:rPr lang="en-US" sz="1200" dirty="0">
                <a:solidFill>
                  <a:srgbClr val="6B7690"/>
                </a:solidFill>
              </a:rPr>
              <a:t>Community: most helpful first</a:t>
            </a:r>
            <a:endParaRPr lang="en-US" sz="1200" dirty="0"/>
          </a:p>
        </p:txBody>
      </p:sp>
      <p:sp>
        <p:nvSpPr>
          <p:cNvPr id="30" name="Phone 3"/>
          <p:cNvSpPr/>
          <p:nvPr/>
        </p:nvSpPr>
        <p:spPr>
          <a:xfrm>
            <a:off x="9610344" y="1600200"/>
            <a:ext cx="2020824" cy="4202958"/>
          </a:xfrm>
          <a:prstGeom prst="roundRect">
            <a:avLst>
              <a:gd name="adj" fmla="val 9955"/>
            </a:avLst>
          </a:prstGeom>
          <a:solidFill>
            <a:schemeClr val="tx1"/>
          </a:solidFill>
          <a:ln/>
          <a:effectLst>
            <a:outerShdw sx="100000" sy="100000" kx="0" ky="0" algn="bl" rotWithShape="0" blurRad="101600" dist="25400" dir="5400000">
              <a:srgbClr val="0F1B33">
                <a:alpha val="10000"/>
              </a:srgbClr>
            </a:outerShdw>
          </a:effectLst>
        </p:spPr>
      </p:sp>
      <p:pic>
        <p:nvPicPr>
          <p:cNvPr id="31" name="Image 7" descr="Ask Capy: guided answers">    </p:cNvPr>
          <p:cNvPicPr>
            <a:picLocks noChangeAspect="1"/>
          </p:cNvPicPr>
          <p:nvPr/>
        </p:nvPicPr>
        <p:blipFill>
          <a:blip r:embed="rId8"/>
          <a:stretch>
            <a:fillRect/>
          </a:stretch>
        </p:blipFill>
        <p:spPr>
          <a:xfrm>
            <a:off x="9683496" y="1673352"/>
            <a:ext cx="1874520" cy="4056654"/>
          </a:xfrm>
          <a:prstGeom prst="rect">
            <a:avLst/>
          </a:prstGeom>
        </p:spPr>
      </p:pic>
      <p:sp>
        <p:nvSpPr>
          <p:cNvPr id="32" name="Text 22"/>
          <p:cNvSpPr txBox="1"/>
          <p:nvPr/>
        </p:nvSpPr>
        <p:spPr>
          <a:xfrm>
            <a:off x="9610344" y="5894598"/>
            <a:ext cx="2020824" cy="274320"/>
          </a:xfrm>
          <a:prstGeom prst="rect">
            <a:avLst/>
          </a:prstGeom>
          <a:noFill/>
          <a:ln/>
        </p:spPr>
        <p:txBody>
          <a:bodyPr wrap="square" lIns="0" tIns="0" rIns="0" bIns="0" rtlCol="0" anchor="t"/>
          <a:lstStyle/>
          <a:p>
            <a:pPr algn="ctr" indent="0" marL="0">
              <a:buNone/>
            </a:pPr>
            <a:r>
              <a:rPr lang="en-US" sz="1200" dirty="0">
                <a:solidFill>
                  <a:srgbClr val="6B7690"/>
                </a:solidFill>
              </a:rPr>
              <a:t>Ask Capy: guided answers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Built around what employees told us they need</a:t>
            </a: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lIns="0" tIns="0" rIns="0" bIns="0" rtlCol="0" anchor="t"/>
          <a:lstStyle/>
          <a:p>
            <a:pPr indent="0" marL="0">
              <a:buNone/>
            </a:pPr>
            <a:r>
              <a:rPr lang="en-US" sz="1600" dirty="0">
                <a:solidFill>
                  <a:schemeClr val="tx2"/>
                </a:solidFill>
              </a:rPr>
              <a:t>Status reflects the prototype today; Phase 2 adds the shared backend.</a:t>
            </a:r>
            <a:endParaRPr lang="en-US" sz="1600" dirty="0"/>
          </a:p>
        </p:txBody>
      </p:sp>
      <p:sp>
        <p:nvSpPr>
          <p:cNvPr id="4" name="Feature 1"/>
          <p:cNvSpPr/>
          <p:nvPr/>
        </p:nvSpPr>
        <p:spPr>
          <a:xfrm>
            <a:off x="548640" y="1645920"/>
            <a:ext cx="3511296" cy="2157984"/>
          </a:xfrm>
          <a:prstGeom prst="roundRect">
            <a:avLst>
              <a:gd name="adj" fmla="val 5085"/>
            </a:avLst>
          </a:prstGeom>
          <a:solidFill>
            <a:schemeClr val="bg2"/>
          </a:solidFill>
          <a:ln/>
        </p:spPr>
      </p:sp>
      <p:sp>
        <p:nvSpPr>
          <p:cNvPr id="5" name="Feature icon 1"/>
          <p:cNvSpPr/>
          <p:nvPr/>
        </p:nvSpPr>
        <p:spPr>
          <a:xfrm>
            <a:off x="822960" y="1920240"/>
            <a:ext cx="658368" cy="658368"/>
          </a:xfrm>
          <a:prstGeom prst="roundRect">
            <a:avLst>
              <a:gd name="adj" fmla="val 28000"/>
            </a:avLst>
          </a:prstGeom>
          <a:solidFill>
            <a:schemeClr val="accent3">
              <a:alpha val="14000"/>
            </a:schemeClr>
          </a:solidFill>
          <a:ln/>
        </p:spPr>
      </p:sp>
      <p:pic>
        <p:nvPicPr>
          <p:cNvPr id="6" name="Image 0" descr="preencoded.png">    </p:cNvPr>
          <p:cNvPicPr>
            <a:picLocks noChangeAspect="1"/>
          </p:cNvPicPr>
          <p:nvPr/>
        </p:nvPicPr>
        <p:blipFill>
          <a:blip r:embed="rId1"/>
          <a:stretch>
            <a:fillRect/>
          </a:stretch>
        </p:blipFill>
        <p:spPr>
          <a:xfrm>
            <a:off x="980968" y="2078248"/>
            <a:ext cx="342351" cy="342351"/>
          </a:xfrm>
          <a:prstGeom prst="rect">
            <a:avLst/>
          </a:prstGeom>
        </p:spPr>
      </p:pic>
      <p:sp>
        <p:nvSpPr>
          <p:cNvPr id="7" name="Shape 4"/>
          <p:cNvSpPr/>
          <p:nvPr/>
        </p:nvSpPr>
        <p:spPr>
          <a:xfrm>
            <a:off x="3287268" y="1965960"/>
            <a:ext cx="498348" cy="274320"/>
          </a:xfrm>
          <a:prstGeom prst="roundRect">
            <a:avLst>
              <a:gd name="adj" fmla="val 50000"/>
            </a:avLst>
          </a:prstGeom>
          <a:solidFill>
            <a:schemeClr val="accent3">
              <a:alpha val="15000"/>
            </a:schemeClr>
          </a:solidFill>
          <a:ln/>
        </p:spPr>
      </p:sp>
      <p:sp>
        <p:nvSpPr>
          <p:cNvPr id="8" name="Text 5"/>
          <p:cNvSpPr txBox="1"/>
          <p:nvPr/>
        </p:nvSpPr>
        <p:spPr>
          <a:xfrm>
            <a:off x="3287268" y="1965960"/>
            <a:ext cx="498348" cy="274320"/>
          </a:xfrm>
          <a:prstGeom prst="rect">
            <a:avLst/>
          </a:prstGeom>
          <a:noFill/>
          <a:ln/>
        </p:spPr>
        <p:txBody>
          <a:bodyPr wrap="square" lIns="0" tIns="0" rIns="0" bIns="0" rtlCol="0" anchor="ctr"/>
          <a:lstStyle/>
          <a:p>
            <a:pPr algn="ctr" indent="0" marL="0">
              <a:buNone/>
            </a:pPr>
            <a:r>
              <a:rPr lang="en-US" sz="1000" b="1" spc="100" kern="0" dirty="0">
                <a:solidFill>
                  <a:schemeClr val="accent3"/>
                </a:solidFill>
              </a:rPr>
              <a:t>BUILT</a:t>
            </a:r>
            <a:endParaRPr lang="en-US" sz="1000" dirty="0"/>
          </a:p>
        </p:txBody>
      </p:sp>
      <p:sp>
        <p:nvSpPr>
          <p:cNvPr id="9" name="Text 6"/>
          <p:cNvSpPr txBox="1"/>
          <p:nvPr/>
        </p:nvSpPr>
        <p:spPr>
          <a:xfrm>
            <a:off x="822960" y="2697480"/>
            <a:ext cx="2962656" cy="347472"/>
          </a:xfrm>
          <a:prstGeom prst="rect">
            <a:avLst/>
          </a:prstGeom>
          <a:noFill/>
          <a:ln/>
        </p:spPr>
        <p:txBody>
          <a:bodyPr wrap="square" lIns="0" tIns="0" rIns="0" bIns="0" rtlCol="0" anchor="t"/>
          <a:lstStyle/>
          <a:p>
            <a:pPr indent="0" marL="0">
              <a:buNone/>
            </a:pPr>
            <a:r>
              <a:rPr lang="en-US" sz="1700" b="1" dirty="0">
                <a:solidFill>
                  <a:schemeClr val="tx1"/>
                </a:solidFill>
              </a:rPr>
              <a:t>Mood and weekly stats</a:t>
            </a:r>
            <a:endParaRPr lang="en-US" sz="1700" dirty="0"/>
          </a:p>
        </p:txBody>
      </p:sp>
      <p:sp>
        <p:nvSpPr>
          <p:cNvPr id="10" name="Text 7"/>
          <p:cNvSpPr txBox="1"/>
          <p:nvPr/>
        </p:nvSpPr>
        <p:spPr>
          <a:xfrm>
            <a:off x="822960" y="3063240"/>
            <a:ext cx="2962656" cy="640080"/>
          </a:xfrm>
          <a:prstGeom prst="rect">
            <a:avLst/>
          </a:prstGeom>
          <a:noFill/>
          <a:ln/>
        </p:spPr>
        <p:txBody>
          <a:bodyPr wrap="square" lIns="0" tIns="0" rIns="0" bIns="0" rtlCol="0" anchor="t"/>
          <a:lstStyle/>
          <a:p>
            <a:pPr indent="0" marL="0">
              <a:buNone/>
            </a:pPr>
            <a:r>
              <a:rPr lang="en-US" sz="1400" dirty="0">
                <a:solidFill>
                  <a:schemeClr val="tx2"/>
                </a:solidFill>
              </a:rPr>
              <a:t>One-tap check-in with tags; week and month trends, private to the device.</a:t>
            </a:r>
            <a:endParaRPr lang="en-US" sz="1400" dirty="0"/>
          </a:p>
        </p:txBody>
      </p:sp>
      <p:sp>
        <p:nvSpPr>
          <p:cNvPr id="11" name="Feature 2"/>
          <p:cNvSpPr/>
          <p:nvPr/>
        </p:nvSpPr>
        <p:spPr>
          <a:xfrm>
            <a:off x="4338828" y="1645920"/>
            <a:ext cx="3511296" cy="2157984"/>
          </a:xfrm>
          <a:prstGeom prst="roundRect">
            <a:avLst>
              <a:gd name="adj" fmla="val 5085"/>
            </a:avLst>
          </a:prstGeom>
          <a:solidFill>
            <a:schemeClr val="bg2"/>
          </a:solidFill>
          <a:ln/>
        </p:spPr>
      </p:sp>
      <p:sp>
        <p:nvSpPr>
          <p:cNvPr id="12" name="Feature icon 2"/>
          <p:cNvSpPr/>
          <p:nvPr/>
        </p:nvSpPr>
        <p:spPr>
          <a:xfrm>
            <a:off x="4613148" y="1920240"/>
            <a:ext cx="658368" cy="658368"/>
          </a:xfrm>
          <a:prstGeom prst="roundRect">
            <a:avLst>
              <a:gd name="adj" fmla="val 28000"/>
            </a:avLst>
          </a:prstGeom>
          <a:solidFill>
            <a:schemeClr val="accent4">
              <a:alpha val="14000"/>
            </a:schemeClr>
          </a:solidFill>
          <a:ln/>
        </p:spPr>
      </p:sp>
      <p:pic>
        <p:nvPicPr>
          <p:cNvPr id="13" name="Image 1" descr="preencoded.png">    </p:cNvPr>
          <p:cNvPicPr>
            <a:picLocks noChangeAspect="1"/>
          </p:cNvPicPr>
          <p:nvPr/>
        </p:nvPicPr>
        <p:blipFill>
          <a:blip r:embed="rId2"/>
          <a:stretch>
            <a:fillRect/>
          </a:stretch>
        </p:blipFill>
        <p:spPr>
          <a:xfrm>
            <a:off x="4771156" y="2078248"/>
            <a:ext cx="342351" cy="342351"/>
          </a:xfrm>
          <a:prstGeom prst="rect">
            <a:avLst/>
          </a:prstGeom>
        </p:spPr>
      </p:pic>
      <p:sp>
        <p:nvSpPr>
          <p:cNvPr id="14" name="Shape 10"/>
          <p:cNvSpPr/>
          <p:nvPr/>
        </p:nvSpPr>
        <p:spPr>
          <a:xfrm>
            <a:off x="7077456" y="1965960"/>
            <a:ext cx="498348" cy="274320"/>
          </a:xfrm>
          <a:prstGeom prst="roundRect">
            <a:avLst>
              <a:gd name="adj" fmla="val 50000"/>
            </a:avLst>
          </a:prstGeom>
          <a:solidFill>
            <a:schemeClr val="accent3">
              <a:alpha val="15000"/>
            </a:schemeClr>
          </a:solidFill>
          <a:ln/>
        </p:spPr>
      </p:sp>
      <p:sp>
        <p:nvSpPr>
          <p:cNvPr id="15" name="Text 11"/>
          <p:cNvSpPr txBox="1"/>
          <p:nvPr/>
        </p:nvSpPr>
        <p:spPr>
          <a:xfrm>
            <a:off x="7077456" y="1965960"/>
            <a:ext cx="498348" cy="274320"/>
          </a:xfrm>
          <a:prstGeom prst="rect">
            <a:avLst/>
          </a:prstGeom>
          <a:noFill/>
          <a:ln/>
        </p:spPr>
        <p:txBody>
          <a:bodyPr wrap="square" lIns="0" tIns="0" rIns="0" bIns="0" rtlCol="0" anchor="ctr"/>
          <a:lstStyle/>
          <a:p>
            <a:pPr algn="ctr" indent="0" marL="0">
              <a:buNone/>
            </a:pPr>
            <a:r>
              <a:rPr lang="en-US" sz="1000" b="1" spc="100" kern="0" dirty="0">
                <a:solidFill>
                  <a:schemeClr val="accent3"/>
                </a:solidFill>
              </a:rPr>
              <a:t>BUILT</a:t>
            </a:r>
            <a:endParaRPr lang="en-US" sz="1000" dirty="0"/>
          </a:p>
        </p:txBody>
      </p:sp>
      <p:sp>
        <p:nvSpPr>
          <p:cNvPr id="16" name="Text 12"/>
          <p:cNvSpPr txBox="1"/>
          <p:nvPr/>
        </p:nvSpPr>
        <p:spPr>
          <a:xfrm>
            <a:off x="4613148" y="2697480"/>
            <a:ext cx="2962656" cy="347472"/>
          </a:xfrm>
          <a:prstGeom prst="rect">
            <a:avLst/>
          </a:prstGeom>
          <a:noFill/>
          <a:ln/>
        </p:spPr>
        <p:txBody>
          <a:bodyPr wrap="square" lIns="0" tIns="0" rIns="0" bIns="0" rtlCol="0" anchor="t"/>
          <a:lstStyle/>
          <a:p>
            <a:pPr indent="0" marL="0">
              <a:buNone/>
            </a:pPr>
            <a:r>
              <a:rPr lang="en-US" sz="1700" b="1" dirty="0">
                <a:solidFill>
                  <a:schemeClr val="tx1"/>
                </a:solidFill>
              </a:rPr>
              <a:t>Contribution score</a:t>
            </a:r>
            <a:endParaRPr lang="en-US" sz="1700" dirty="0"/>
          </a:p>
        </p:txBody>
      </p:sp>
      <p:sp>
        <p:nvSpPr>
          <p:cNvPr id="17" name="Text 13"/>
          <p:cNvSpPr txBox="1"/>
          <p:nvPr/>
        </p:nvSpPr>
        <p:spPr>
          <a:xfrm>
            <a:off x="4613148" y="3063240"/>
            <a:ext cx="2962656" cy="640080"/>
          </a:xfrm>
          <a:prstGeom prst="rect">
            <a:avLst/>
          </a:prstGeom>
          <a:noFill/>
          <a:ln/>
        </p:spPr>
        <p:txBody>
          <a:bodyPr wrap="square" lIns="0" tIns="0" rIns="0" bIns="0" rtlCol="0" anchor="t"/>
          <a:lstStyle/>
          <a:p>
            <a:pPr indent="0" marL="0">
              <a:buNone/>
            </a:pPr>
            <a:r>
              <a:rPr lang="en-US" sz="1400" dirty="0">
                <a:solidFill>
                  <a:schemeClr val="tx2"/>
                </a:solidFill>
              </a:rPr>
              <a:t>Rewards helpful answers, capped daily, never used in performance reviews.</a:t>
            </a:r>
            <a:endParaRPr lang="en-US" sz="1400" dirty="0"/>
          </a:p>
        </p:txBody>
      </p:sp>
      <p:sp>
        <p:nvSpPr>
          <p:cNvPr id="18" name="Feature 3"/>
          <p:cNvSpPr/>
          <p:nvPr/>
        </p:nvSpPr>
        <p:spPr>
          <a:xfrm>
            <a:off x="8129016" y="1645920"/>
            <a:ext cx="3511296" cy="2157984"/>
          </a:xfrm>
          <a:prstGeom prst="roundRect">
            <a:avLst>
              <a:gd name="adj" fmla="val 5085"/>
            </a:avLst>
          </a:prstGeom>
          <a:solidFill>
            <a:schemeClr val="bg2"/>
          </a:solidFill>
          <a:ln/>
        </p:spPr>
      </p:sp>
      <p:sp>
        <p:nvSpPr>
          <p:cNvPr id="19" name="Feature icon 3"/>
          <p:cNvSpPr/>
          <p:nvPr/>
        </p:nvSpPr>
        <p:spPr>
          <a:xfrm>
            <a:off x="8403336" y="1920240"/>
            <a:ext cx="658368" cy="658368"/>
          </a:xfrm>
          <a:prstGeom prst="roundRect">
            <a:avLst>
              <a:gd name="adj" fmla="val 28000"/>
            </a:avLst>
          </a:prstGeom>
          <a:solidFill>
            <a:schemeClr val="accent2">
              <a:alpha val="14000"/>
            </a:schemeClr>
          </a:solidFill>
          <a:ln/>
        </p:spPr>
      </p:sp>
      <p:pic>
        <p:nvPicPr>
          <p:cNvPr id="20" name="Image 2" descr="preencoded.png">    </p:cNvPr>
          <p:cNvPicPr>
            <a:picLocks noChangeAspect="1"/>
          </p:cNvPicPr>
          <p:nvPr/>
        </p:nvPicPr>
        <p:blipFill>
          <a:blip r:embed="rId3"/>
          <a:stretch>
            <a:fillRect/>
          </a:stretch>
        </p:blipFill>
        <p:spPr>
          <a:xfrm>
            <a:off x="8561344" y="2078248"/>
            <a:ext cx="342351" cy="342351"/>
          </a:xfrm>
          <a:prstGeom prst="rect">
            <a:avLst/>
          </a:prstGeom>
        </p:spPr>
      </p:pic>
      <p:sp>
        <p:nvSpPr>
          <p:cNvPr id="21" name="Shape 16"/>
          <p:cNvSpPr/>
          <p:nvPr/>
        </p:nvSpPr>
        <p:spPr>
          <a:xfrm>
            <a:off x="10323576" y="1965960"/>
            <a:ext cx="1042416" cy="274320"/>
          </a:xfrm>
          <a:prstGeom prst="roundRect">
            <a:avLst>
              <a:gd name="adj" fmla="val 50000"/>
            </a:avLst>
          </a:prstGeom>
          <a:solidFill>
            <a:schemeClr val="accent4">
              <a:alpha val="15000"/>
            </a:schemeClr>
          </a:solidFill>
          <a:ln/>
        </p:spPr>
      </p:sp>
      <p:sp>
        <p:nvSpPr>
          <p:cNvPr id="22" name="Text 17"/>
          <p:cNvSpPr txBox="1"/>
          <p:nvPr/>
        </p:nvSpPr>
        <p:spPr>
          <a:xfrm>
            <a:off x="10323576" y="1965960"/>
            <a:ext cx="1042416" cy="274320"/>
          </a:xfrm>
          <a:prstGeom prst="rect">
            <a:avLst/>
          </a:prstGeom>
          <a:noFill/>
          <a:ln/>
        </p:spPr>
        <p:txBody>
          <a:bodyPr wrap="square" lIns="0" tIns="0" rIns="0" bIns="0" rtlCol="0" anchor="ctr"/>
          <a:lstStyle/>
          <a:p>
            <a:pPr algn="ctr" indent="0" marL="0">
              <a:buNone/>
            </a:pPr>
            <a:r>
              <a:rPr lang="en-US" sz="1000" b="1" spc="100" kern="0" dirty="0">
                <a:solidFill>
                  <a:schemeClr val="accent4"/>
                </a:solidFill>
              </a:rPr>
              <a:t>PARTLY BUILT</a:t>
            </a:r>
            <a:endParaRPr lang="en-US" sz="1000" dirty="0"/>
          </a:p>
        </p:txBody>
      </p:sp>
      <p:sp>
        <p:nvSpPr>
          <p:cNvPr id="23" name="Text 18"/>
          <p:cNvSpPr txBox="1"/>
          <p:nvPr/>
        </p:nvSpPr>
        <p:spPr>
          <a:xfrm>
            <a:off x="8403336" y="2697480"/>
            <a:ext cx="2962656" cy="347472"/>
          </a:xfrm>
          <a:prstGeom prst="rect">
            <a:avLst/>
          </a:prstGeom>
          <a:noFill/>
          <a:ln/>
        </p:spPr>
        <p:txBody>
          <a:bodyPr wrap="square" lIns="0" tIns="0" rIns="0" bIns="0" rtlCol="0" anchor="t"/>
          <a:lstStyle/>
          <a:p>
            <a:pPr indent="0" marL="0">
              <a:buNone/>
            </a:pPr>
            <a:r>
              <a:rPr lang="en-US" sz="1700" b="1" dirty="0">
                <a:solidFill>
                  <a:schemeClr val="tx1"/>
                </a:solidFill>
              </a:rPr>
              <a:t>Verified, anonymous voice</a:t>
            </a:r>
            <a:endParaRPr lang="en-US" sz="1700" dirty="0"/>
          </a:p>
        </p:txBody>
      </p:sp>
      <p:sp>
        <p:nvSpPr>
          <p:cNvPr id="24" name="Text 19"/>
          <p:cNvSpPr txBox="1"/>
          <p:nvPr/>
        </p:nvSpPr>
        <p:spPr>
          <a:xfrm>
            <a:off x="8403336" y="3063240"/>
            <a:ext cx="2962656" cy="640080"/>
          </a:xfrm>
          <a:prstGeom prst="rect">
            <a:avLst/>
          </a:prstGeom>
          <a:noFill/>
          <a:ln/>
        </p:spPr>
        <p:txBody>
          <a:bodyPr wrap="square" lIns="0" tIns="0" rIns="0" bIns="0" rtlCol="0" anchor="t"/>
          <a:lstStyle/>
          <a:p>
            <a:pPr indent="0" marL="0">
              <a:buNone/>
            </a:pPr>
            <a:r>
              <a:rPr lang="en-US" sz="1400" dirty="0">
                <a:solidFill>
                  <a:schemeClr val="tx2"/>
                </a:solidFill>
              </a:rPr>
              <a:t>No names. Optional role and experience band, e.g. “Intern · &lt;1 yr at ABB”.</a:t>
            </a:r>
            <a:endParaRPr lang="en-US" sz="1400" dirty="0"/>
          </a:p>
        </p:txBody>
      </p:sp>
      <p:sp>
        <p:nvSpPr>
          <p:cNvPr id="25" name="Feature 4"/>
          <p:cNvSpPr/>
          <p:nvPr/>
        </p:nvSpPr>
        <p:spPr>
          <a:xfrm>
            <a:off x="548640" y="4032504"/>
            <a:ext cx="3511296" cy="2157984"/>
          </a:xfrm>
          <a:prstGeom prst="roundRect">
            <a:avLst>
              <a:gd name="adj" fmla="val 5085"/>
            </a:avLst>
          </a:prstGeom>
          <a:solidFill>
            <a:schemeClr val="bg2"/>
          </a:solidFill>
          <a:ln/>
        </p:spPr>
      </p:sp>
      <p:sp>
        <p:nvSpPr>
          <p:cNvPr id="26" name="Feature icon 4"/>
          <p:cNvSpPr/>
          <p:nvPr/>
        </p:nvSpPr>
        <p:spPr>
          <a:xfrm>
            <a:off x="822960" y="4306824"/>
            <a:ext cx="658368" cy="658368"/>
          </a:xfrm>
          <a:prstGeom prst="roundRect">
            <a:avLst>
              <a:gd name="adj" fmla="val 28000"/>
            </a:avLst>
          </a:prstGeom>
          <a:solidFill>
            <a:schemeClr val="accent5">
              <a:alpha val="14000"/>
            </a:schemeClr>
          </a:solidFill>
          <a:ln/>
        </p:spPr>
      </p:sp>
      <p:pic>
        <p:nvPicPr>
          <p:cNvPr id="27" name="Image 3" descr="preencoded.png">    </p:cNvPr>
          <p:cNvPicPr>
            <a:picLocks noChangeAspect="1"/>
          </p:cNvPicPr>
          <p:nvPr/>
        </p:nvPicPr>
        <p:blipFill>
          <a:blip r:embed="rId4"/>
          <a:stretch>
            <a:fillRect/>
          </a:stretch>
        </p:blipFill>
        <p:spPr>
          <a:xfrm>
            <a:off x="980968" y="4464832"/>
            <a:ext cx="342351" cy="342351"/>
          </a:xfrm>
          <a:prstGeom prst="rect">
            <a:avLst/>
          </a:prstGeom>
        </p:spPr>
      </p:pic>
      <p:sp>
        <p:nvSpPr>
          <p:cNvPr id="28" name="Shape 22"/>
          <p:cNvSpPr/>
          <p:nvPr/>
        </p:nvSpPr>
        <p:spPr>
          <a:xfrm>
            <a:off x="2743200" y="4352544"/>
            <a:ext cx="1042416" cy="274320"/>
          </a:xfrm>
          <a:prstGeom prst="roundRect">
            <a:avLst>
              <a:gd name="adj" fmla="val 50000"/>
            </a:avLst>
          </a:prstGeom>
          <a:solidFill>
            <a:schemeClr val="accent4">
              <a:alpha val="15000"/>
            </a:schemeClr>
          </a:solidFill>
          <a:ln/>
        </p:spPr>
      </p:sp>
      <p:sp>
        <p:nvSpPr>
          <p:cNvPr id="29" name="Text 23"/>
          <p:cNvSpPr txBox="1"/>
          <p:nvPr/>
        </p:nvSpPr>
        <p:spPr>
          <a:xfrm>
            <a:off x="2743200" y="4352544"/>
            <a:ext cx="1042416" cy="274320"/>
          </a:xfrm>
          <a:prstGeom prst="rect">
            <a:avLst/>
          </a:prstGeom>
          <a:noFill/>
          <a:ln/>
        </p:spPr>
        <p:txBody>
          <a:bodyPr wrap="square" lIns="0" tIns="0" rIns="0" bIns="0" rtlCol="0" anchor="ctr"/>
          <a:lstStyle/>
          <a:p>
            <a:pPr algn="ctr" indent="0" marL="0">
              <a:buNone/>
            </a:pPr>
            <a:r>
              <a:rPr lang="en-US" sz="1000" b="1" spc="100" kern="0" dirty="0">
                <a:solidFill>
                  <a:schemeClr val="accent4"/>
                </a:solidFill>
              </a:rPr>
              <a:t>PARTLY BUILT</a:t>
            </a:r>
            <a:endParaRPr lang="en-US" sz="1000" dirty="0"/>
          </a:p>
        </p:txBody>
      </p:sp>
      <p:sp>
        <p:nvSpPr>
          <p:cNvPr id="30" name="Text 24"/>
          <p:cNvSpPr txBox="1"/>
          <p:nvPr/>
        </p:nvSpPr>
        <p:spPr>
          <a:xfrm>
            <a:off x="822960" y="5084064"/>
            <a:ext cx="2962656" cy="347472"/>
          </a:xfrm>
          <a:prstGeom prst="rect">
            <a:avLst/>
          </a:prstGeom>
          <a:noFill/>
          <a:ln/>
        </p:spPr>
        <p:txBody>
          <a:bodyPr wrap="square" lIns="0" tIns="0" rIns="0" bIns="0" rtlCol="0" anchor="t"/>
          <a:lstStyle/>
          <a:p>
            <a:pPr indent="0" marL="0">
              <a:buNone/>
            </a:pPr>
            <a:r>
              <a:rPr lang="en-US" sz="1700" b="1" dirty="0">
                <a:solidFill>
                  <a:schemeClr val="tx1"/>
                </a:solidFill>
              </a:rPr>
              <a:t>Moderation</a:t>
            </a:r>
            <a:endParaRPr lang="en-US" sz="1700" dirty="0"/>
          </a:p>
        </p:txBody>
      </p:sp>
      <p:sp>
        <p:nvSpPr>
          <p:cNvPr id="31" name="Text 25"/>
          <p:cNvSpPr txBox="1"/>
          <p:nvPr/>
        </p:nvSpPr>
        <p:spPr>
          <a:xfrm>
            <a:off x="822960" y="5449824"/>
            <a:ext cx="2962656" cy="640080"/>
          </a:xfrm>
          <a:prstGeom prst="rect">
            <a:avLst/>
          </a:prstGeom>
          <a:noFill/>
          <a:ln/>
        </p:spPr>
        <p:txBody>
          <a:bodyPr wrap="square" lIns="0" tIns="0" rIns="0" bIns="0" rtlCol="0" anchor="t"/>
          <a:lstStyle/>
          <a:p>
            <a:pPr indent="0" marL="0">
              <a:buNone/>
            </a:pPr>
            <a:r>
              <a:rPr lang="en-US" sz="1400" dirty="0">
                <a:solidFill>
                  <a:schemeClr val="tx2"/>
                </a:solidFill>
              </a:rPr>
              <a:t>On-device check stops attacks and leaks; AI and human review next.</a:t>
            </a:r>
            <a:endParaRPr lang="en-US" sz="1400" dirty="0"/>
          </a:p>
        </p:txBody>
      </p:sp>
      <p:sp>
        <p:nvSpPr>
          <p:cNvPr id="32" name="Feature 5"/>
          <p:cNvSpPr/>
          <p:nvPr/>
        </p:nvSpPr>
        <p:spPr>
          <a:xfrm>
            <a:off x="4338828" y="4032504"/>
            <a:ext cx="3511296" cy="2157984"/>
          </a:xfrm>
          <a:prstGeom prst="roundRect">
            <a:avLst>
              <a:gd name="adj" fmla="val 5085"/>
            </a:avLst>
          </a:prstGeom>
          <a:solidFill>
            <a:schemeClr val="bg2"/>
          </a:solidFill>
          <a:ln/>
        </p:spPr>
      </p:sp>
      <p:sp>
        <p:nvSpPr>
          <p:cNvPr id="33" name="Feature icon 5"/>
          <p:cNvSpPr/>
          <p:nvPr/>
        </p:nvSpPr>
        <p:spPr>
          <a:xfrm>
            <a:off x="4613148" y="4306824"/>
            <a:ext cx="658368" cy="658368"/>
          </a:xfrm>
          <a:prstGeom prst="roundRect">
            <a:avLst>
              <a:gd name="adj" fmla="val 28000"/>
            </a:avLst>
          </a:prstGeom>
          <a:solidFill>
            <a:schemeClr val="accent6">
              <a:alpha val="14000"/>
            </a:schemeClr>
          </a:solidFill>
          <a:ln/>
        </p:spPr>
      </p:sp>
      <p:pic>
        <p:nvPicPr>
          <p:cNvPr id="34" name="Image 4" descr="preencoded.png">    </p:cNvPr>
          <p:cNvPicPr>
            <a:picLocks noChangeAspect="1"/>
          </p:cNvPicPr>
          <p:nvPr/>
        </p:nvPicPr>
        <p:blipFill>
          <a:blip r:embed="rId5"/>
          <a:stretch>
            <a:fillRect/>
          </a:stretch>
        </p:blipFill>
        <p:spPr>
          <a:xfrm>
            <a:off x="4771156" y="4464832"/>
            <a:ext cx="342351" cy="342351"/>
          </a:xfrm>
          <a:prstGeom prst="rect">
            <a:avLst/>
          </a:prstGeom>
        </p:spPr>
      </p:pic>
      <p:sp>
        <p:nvSpPr>
          <p:cNvPr id="35" name="Shape 28"/>
          <p:cNvSpPr/>
          <p:nvPr/>
        </p:nvSpPr>
        <p:spPr>
          <a:xfrm>
            <a:off x="6533388" y="4352544"/>
            <a:ext cx="1042416" cy="274320"/>
          </a:xfrm>
          <a:prstGeom prst="roundRect">
            <a:avLst>
              <a:gd name="adj" fmla="val 50000"/>
            </a:avLst>
          </a:prstGeom>
          <a:solidFill>
            <a:schemeClr val="accent4">
              <a:alpha val="15000"/>
            </a:schemeClr>
          </a:solidFill>
          <a:ln/>
        </p:spPr>
      </p:sp>
      <p:sp>
        <p:nvSpPr>
          <p:cNvPr id="36" name="Text 29"/>
          <p:cNvSpPr txBox="1"/>
          <p:nvPr/>
        </p:nvSpPr>
        <p:spPr>
          <a:xfrm>
            <a:off x="6533388" y="4352544"/>
            <a:ext cx="1042416" cy="274320"/>
          </a:xfrm>
          <a:prstGeom prst="rect">
            <a:avLst/>
          </a:prstGeom>
          <a:noFill/>
          <a:ln/>
        </p:spPr>
        <p:txBody>
          <a:bodyPr wrap="square" lIns="0" tIns="0" rIns="0" bIns="0" rtlCol="0" anchor="ctr"/>
          <a:lstStyle/>
          <a:p>
            <a:pPr algn="ctr" indent="0" marL="0">
              <a:buNone/>
            </a:pPr>
            <a:r>
              <a:rPr lang="en-US" sz="1000" b="1" spc="100" kern="0" dirty="0">
                <a:solidFill>
                  <a:schemeClr val="accent4"/>
                </a:solidFill>
              </a:rPr>
              <a:t>PARTLY BUILT</a:t>
            </a:r>
            <a:endParaRPr lang="en-US" sz="1000" dirty="0"/>
          </a:p>
        </p:txBody>
      </p:sp>
      <p:sp>
        <p:nvSpPr>
          <p:cNvPr id="37" name="Text 30"/>
          <p:cNvSpPr txBox="1"/>
          <p:nvPr/>
        </p:nvSpPr>
        <p:spPr>
          <a:xfrm>
            <a:off x="4613148" y="5084064"/>
            <a:ext cx="2962656" cy="347472"/>
          </a:xfrm>
          <a:prstGeom prst="rect">
            <a:avLst/>
          </a:prstGeom>
          <a:noFill/>
          <a:ln/>
        </p:spPr>
        <p:txBody>
          <a:bodyPr wrap="square" lIns="0" tIns="0" rIns="0" bIns="0" rtlCol="0" anchor="t"/>
          <a:lstStyle/>
          <a:p>
            <a:pPr indent="0" marL="0">
              <a:buNone/>
            </a:pPr>
            <a:r>
              <a:rPr lang="en-US" sz="1700" b="1" dirty="0">
                <a:solidFill>
                  <a:schemeClr val="tx1"/>
                </a:solidFill>
              </a:rPr>
              <a:t>Answers you can trust</a:t>
            </a:r>
            <a:endParaRPr lang="en-US" sz="1700" dirty="0"/>
          </a:p>
        </p:txBody>
      </p:sp>
      <p:sp>
        <p:nvSpPr>
          <p:cNvPr id="38" name="Text 31"/>
          <p:cNvSpPr txBox="1"/>
          <p:nvPr/>
        </p:nvSpPr>
        <p:spPr>
          <a:xfrm>
            <a:off x="4613148" y="5449824"/>
            <a:ext cx="2962656" cy="640080"/>
          </a:xfrm>
          <a:prstGeom prst="rect">
            <a:avLst/>
          </a:prstGeom>
          <a:noFill/>
          <a:ln/>
        </p:spPr>
        <p:txBody>
          <a:bodyPr wrap="square" lIns="0" tIns="0" rIns="0" bIns="0" rtlCol="0" anchor="t"/>
          <a:lstStyle/>
          <a:p>
            <a:pPr indent="0" marL="0">
              <a:buNone/>
            </a:pPr>
            <a:r>
              <a:rPr lang="en-US" sz="1400" dirty="0">
                <a:solidFill>
                  <a:schemeClr val="tx2"/>
                </a:solidFill>
              </a:rPr>
              <a:t>Upvotes, downvotes with a reason, accepted answers; HR and IT mark Official.</a:t>
            </a:r>
            <a:endParaRPr lang="en-US" sz="1400" dirty="0"/>
          </a:p>
        </p:txBody>
      </p:sp>
      <p:sp>
        <p:nvSpPr>
          <p:cNvPr id="39" name="Feature 6"/>
          <p:cNvSpPr/>
          <p:nvPr/>
        </p:nvSpPr>
        <p:spPr>
          <a:xfrm>
            <a:off x="8129016" y="4032504"/>
            <a:ext cx="3511296" cy="2157984"/>
          </a:xfrm>
          <a:prstGeom prst="roundRect">
            <a:avLst>
              <a:gd name="adj" fmla="val 5085"/>
            </a:avLst>
          </a:prstGeom>
          <a:solidFill>
            <a:schemeClr val="bg2"/>
          </a:solidFill>
          <a:ln/>
        </p:spPr>
      </p:sp>
      <p:sp>
        <p:nvSpPr>
          <p:cNvPr id="40" name="Feature icon 6"/>
          <p:cNvSpPr/>
          <p:nvPr/>
        </p:nvSpPr>
        <p:spPr>
          <a:xfrm>
            <a:off x="8403336" y="4306824"/>
            <a:ext cx="658368" cy="658368"/>
          </a:xfrm>
          <a:prstGeom prst="roundRect">
            <a:avLst>
              <a:gd name="adj" fmla="val 28000"/>
            </a:avLst>
          </a:prstGeom>
          <a:solidFill>
            <a:schemeClr val="accent1">
              <a:alpha val="14000"/>
            </a:schemeClr>
          </a:solidFill>
          <a:ln/>
        </p:spPr>
      </p:sp>
      <p:pic>
        <p:nvPicPr>
          <p:cNvPr id="41" name="Image 5" descr="preencoded.png">    </p:cNvPr>
          <p:cNvPicPr>
            <a:picLocks noChangeAspect="1"/>
          </p:cNvPicPr>
          <p:nvPr/>
        </p:nvPicPr>
        <p:blipFill>
          <a:blip r:embed="rId6"/>
          <a:stretch>
            <a:fillRect/>
          </a:stretch>
        </p:blipFill>
        <p:spPr>
          <a:xfrm>
            <a:off x="8561344" y="4464832"/>
            <a:ext cx="342351" cy="342351"/>
          </a:xfrm>
          <a:prstGeom prst="rect">
            <a:avLst/>
          </a:prstGeom>
        </p:spPr>
      </p:pic>
      <p:sp>
        <p:nvSpPr>
          <p:cNvPr id="42" name="Shape 34"/>
          <p:cNvSpPr/>
          <p:nvPr/>
        </p:nvSpPr>
        <p:spPr>
          <a:xfrm>
            <a:off x="10323576" y="4352544"/>
            <a:ext cx="1042416" cy="274320"/>
          </a:xfrm>
          <a:prstGeom prst="roundRect">
            <a:avLst>
              <a:gd name="adj" fmla="val 50000"/>
            </a:avLst>
          </a:prstGeom>
          <a:solidFill>
            <a:schemeClr val="accent4">
              <a:alpha val="15000"/>
            </a:schemeClr>
          </a:solidFill>
          <a:ln/>
        </p:spPr>
      </p:sp>
      <p:sp>
        <p:nvSpPr>
          <p:cNvPr id="43" name="Text 35"/>
          <p:cNvSpPr txBox="1"/>
          <p:nvPr/>
        </p:nvSpPr>
        <p:spPr>
          <a:xfrm>
            <a:off x="10323576" y="4352544"/>
            <a:ext cx="1042416" cy="274320"/>
          </a:xfrm>
          <a:prstGeom prst="rect">
            <a:avLst/>
          </a:prstGeom>
          <a:noFill/>
          <a:ln/>
        </p:spPr>
        <p:txBody>
          <a:bodyPr wrap="square" lIns="0" tIns="0" rIns="0" bIns="0" rtlCol="0" anchor="ctr"/>
          <a:lstStyle/>
          <a:p>
            <a:pPr algn="ctr" indent="0" marL="0">
              <a:buNone/>
            </a:pPr>
            <a:r>
              <a:rPr lang="en-US" sz="1000" b="1" spc="100" kern="0" dirty="0">
                <a:solidFill>
                  <a:schemeClr val="accent4"/>
                </a:solidFill>
              </a:rPr>
              <a:t>PARTLY BUILT</a:t>
            </a:r>
            <a:endParaRPr lang="en-US" sz="1000" dirty="0"/>
          </a:p>
        </p:txBody>
      </p:sp>
      <p:sp>
        <p:nvSpPr>
          <p:cNvPr id="44" name="Text 36"/>
          <p:cNvSpPr txBox="1"/>
          <p:nvPr/>
        </p:nvSpPr>
        <p:spPr>
          <a:xfrm>
            <a:off x="8403336" y="5084064"/>
            <a:ext cx="2962656" cy="347472"/>
          </a:xfrm>
          <a:prstGeom prst="rect">
            <a:avLst/>
          </a:prstGeom>
          <a:noFill/>
          <a:ln/>
        </p:spPr>
        <p:txBody>
          <a:bodyPr wrap="square" lIns="0" tIns="0" rIns="0" bIns="0" rtlCol="0" anchor="t"/>
          <a:lstStyle/>
          <a:p>
            <a:pPr indent="0" marL="0">
              <a:buNone/>
            </a:pPr>
            <a:r>
              <a:rPr lang="en-US" sz="1700" b="1" dirty="0">
                <a:solidFill>
                  <a:schemeClr val="tx1"/>
                </a:solidFill>
              </a:rPr>
              <a:t>Capy assistant</a:t>
            </a:r>
            <a:endParaRPr lang="en-US" sz="1700" dirty="0"/>
          </a:p>
        </p:txBody>
      </p:sp>
      <p:sp>
        <p:nvSpPr>
          <p:cNvPr id="45" name="Text 37"/>
          <p:cNvSpPr txBox="1"/>
          <p:nvPr/>
        </p:nvSpPr>
        <p:spPr>
          <a:xfrm>
            <a:off x="8403336" y="5449824"/>
            <a:ext cx="2962656" cy="640080"/>
          </a:xfrm>
          <a:prstGeom prst="rect">
            <a:avLst/>
          </a:prstGeom>
          <a:noFill/>
          <a:ln/>
        </p:spPr>
        <p:txBody>
          <a:bodyPr wrap="square" lIns="0" tIns="0" rIns="0" bIns="0" rtlCol="0" anchor="t"/>
          <a:lstStyle/>
          <a:p>
            <a:pPr indent="0" marL="0">
              <a:buNone/>
            </a:pPr>
            <a:r>
              <a:rPr lang="en-US" sz="1400" dirty="0">
                <a:solidFill>
                  <a:schemeClr val="tx2"/>
                </a:solidFill>
              </a:rPr>
              <a:t>Points to the right resource offline today; AI on approved HR/IT content next.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Why not just Reddit, Teams or the intranet?</a:t>
            </a: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lIns="0" tIns="0" rIns="0" bIns="0" rtlCol="0" anchor="t"/>
          <a:lstStyle/>
          <a:p>
            <a:pPr indent="0" marL="0">
              <a:buNone/>
            </a:pPr>
            <a:r>
              <a:rPr lang="en-US" sz="1600" dirty="0">
                <a:solidFill>
                  <a:schemeClr val="tx2"/>
                </a:solidFill>
              </a:rPr>
              <a:t>Reddit's format, made safe, accurate and specific to ABB.</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772400" cy="914400"/>
        </p:xfrm>
        <a:graphic>
          <a:graphicData uri="http://schemas.openxmlformats.org/drawingml/2006/table">
            <a:tbl>
              <a:tblPr/>
              <a:tblGrid>
                <a:gridCol w="3383280"/>
                <a:gridCol w="1371600"/>
                <a:gridCol w="1554480"/>
                <a:gridCol w="1463040"/>
              </a:tblGrid>
              <a:tr h="566928">
                <a:tc>
                  <a:txBody>
                    <a:bodyPr/>
                    <a:lstStyle/>
                    <a:p>
                      <a:pPr algn="l" indent="0" marL="0">
                        <a:buNone/>
                      </a:pPr>
                      <a:r>
                        <a:rPr lang="en-US" sz="1500" b="1" dirty="0">
                          <a:solidFill>
                            <a:schemeClr val="tx1"/>
                          </a:solidFill>
                        </a:rPr>
                        <a:t>What matters</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Reddit</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Teams / intranet</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bg1"/>
                          </a:solidFill>
                        </a:rPr>
                        <a:t>ABB Help Me</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accent1"/>
                    </a:solidFill>
                  </a:tcPr>
                </a:tc>
              </a:tr>
              <a:tr h="566928">
                <a:tc>
                  <a:txBody>
                    <a:bodyPr/>
                    <a:lstStyle/>
                    <a:p>
                      <a:pPr indent="0" marL="0">
                        <a:buNone/>
                      </a:pPr>
                      <a:r>
                        <a:rPr lang="en-US" sz="1500" dirty="0">
                          <a:solidFill>
                            <a:schemeClr val="tx1"/>
                          </a:solidFill>
                        </a:rPr>
                        <a:t>Only verified colleagues can join</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dirty="0">
                          <a:solidFill>
                            <a:srgbClr val="6B7690"/>
                          </a:solidFill>
                        </a:rPr>
                        <a:t>No</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3"/>
                          </a:solidFill>
                        </a:rPr>
                        <a:t>Yes</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3"/>
                          </a:solidFill>
                        </a:rPr>
                        <a:t>Yes</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accent1">
                        <a:alpha val="8000"/>
                      </a:schemeClr>
                    </a:solidFill>
                  </a:tcPr>
                </a:tc>
              </a:tr>
              <a:tr h="566928">
                <a:tc>
                  <a:txBody>
                    <a:bodyPr/>
                    <a:lstStyle/>
                    <a:p>
                      <a:pPr indent="0" marL="0">
                        <a:buNone/>
                      </a:pPr>
                      <a:r>
                        <a:rPr lang="en-US" sz="1500" dirty="0">
                          <a:solidFill>
                            <a:schemeClr val="tx1"/>
                          </a:solidFill>
                        </a:rPr>
                        <a:t>Anonymous, with role context</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4"/>
                          </a:solidFill>
                        </a:rPr>
                        <a:t>Partly</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dirty="0">
                          <a:solidFill>
                            <a:srgbClr val="6B7690"/>
                          </a:solidFill>
                        </a:rPr>
                        <a:t>No</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3"/>
                          </a:solidFill>
                        </a:rPr>
                        <a:t>Yes</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accent1">
                        <a:alpha val="8000"/>
                      </a:schemeClr>
                    </a:solidFill>
                  </a:tcPr>
                </a:tc>
              </a:tr>
              <a:tr h="566928">
                <a:tc>
                  <a:txBody>
                    <a:bodyPr/>
                    <a:lstStyle/>
                    <a:p>
                      <a:pPr indent="0" marL="0">
                        <a:buNone/>
                      </a:pPr>
                      <a:r>
                        <a:rPr lang="en-US" sz="1500" dirty="0">
                          <a:solidFill>
                            <a:schemeClr val="tx1"/>
                          </a:solidFill>
                        </a:rPr>
                        <a:t>Official answers from HR and IT</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dirty="0">
                          <a:solidFill>
                            <a:srgbClr val="6B7690"/>
                          </a:solidFill>
                        </a:rPr>
                        <a:t>No</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4"/>
                          </a:solidFill>
                        </a:rPr>
                        <a:t>Partly</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3"/>
                          </a:solidFill>
                        </a:rPr>
                        <a:t>Yes</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accent1">
                        <a:alpha val="8000"/>
                      </a:schemeClr>
                    </a:solidFill>
                  </a:tcPr>
                </a:tc>
              </a:tr>
              <a:tr h="566928">
                <a:tc>
                  <a:txBody>
                    <a:bodyPr/>
                    <a:lstStyle/>
                    <a:p>
                      <a:pPr indent="0" marL="0">
                        <a:buNone/>
                      </a:pPr>
                      <a:r>
                        <a:rPr lang="en-US" sz="1500" dirty="0">
                          <a:solidFill>
                            <a:schemeClr val="tx1"/>
                          </a:solidFill>
                        </a:rPr>
                        <a:t>Rewards helpfulness, not popularity</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dirty="0">
                          <a:solidFill>
                            <a:srgbClr val="6B7690"/>
                          </a:solidFill>
                        </a:rPr>
                        <a:t>No</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dirty="0">
                          <a:solidFill>
                            <a:srgbClr val="6B7690"/>
                          </a:solidFill>
                        </a:rPr>
                        <a:t>No</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3"/>
                          </a:solidFill>
                        </a:rPr>
                        <a:t>Yes</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accent1">
                        <a:alpha val="8000"/>
                      </a:schemeClr>
                    </a:solidFill>
                  </a:tcPr>
                </a:tc>
              </a:tr>
              <a:tr h="566928">
                <a:tc>
                  <a:txBody>
                    <a:bodyPr/>
                    <a:lstStyle/>
                    <a:p>
                      <a:pPr indent="0" marL="0">
                        <a:buNone/>
                      </a:pPr>
                      <a:r>
                        <a:rPr lang="en-US" sz="1500" dirty="0">
                          <a:solidFill>
                            <a:schemeClr val="tx1"/>
                          </a:solidFill>
                        </a:rPr>
                        <a:t>Well-being and support built in</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dirty="0">
                          <a:solidFill>
                            <a:srgbClr val="6B7690"/>
                          </a:solidFill>
                        </a:rPr>
                        <a:t>No</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dirty="0">
                          <a:solidFill>
                            <a:srgbClr val="6B7690"/>
                          </a:solidFill>
                        </a:rPr>
                        <a:t>No</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3"/>
                          </a:solidFill>
                        </a:rPr>
                        <a:t>Yes</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accent1">
                        <a:alpha val="8000"/>
                      </a:schemeClr>
                    </a:solidFill>
                  </a:tcPr>
                </a:tc>
              </a:tr>
              <a:tr h="566928">
                <a:tc>
                  <a:txBody>
                    <a:bodyPr/>
                    <a:lstStyle/>
                    <a:p>
                      <a:pPr indent="0" marL="0">
                        <a:buNone/>
                      </a:pPr>
                      <a:r>
                        <a:rPr lang="en-US" sz="1500" dirty="0">
                          <a:solidFill>
                            <a:schemeClr val="tx1"/>
                          </a:solidFill>
                        </a:rPr>
                        <a:t>Private: not visible to managers</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4"/>
                          </a:solidFill>
                        </a:rPr>
                        <a:t>Partly</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dirty="0">
                          <a:solidFill>
                            <a:srgbClr val="6B7690"/>
                          </a:solidFill>
                        </a:rPr>
                        <a:t>No</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algn="ctr" indent="0" marL="0">
                        <a:buNone/>
                      </a:pPr>
                      <a:r>
                        <a:rPr lang="en-US" sz="1500" b="1" dirty="0">
                          <a:solidFill>
                            <a:schemeClr val="accent3"/>
                          </a:solidFill>
                        </a:rPr>
                        <a:t>Yes</a:t>
                      </a:r>
                      <a:endParaRPr lang="en-US" sz="1500" dirty="0"/>
                    </a:p>
                  </a:txBody>
                  <a:tcPr marL="109728" marR="109728" marT="0" marB="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accent1">
                        <a:alpha val="8000"/>
                      </a:schemeClr>
                    </a:solidFill>
                  </a:tcPr>
                </a:tc>
              </a:tr>
            </a:tbl>
          </a:graphicData>
        </a:graphic>
      </p:graphicFrame>
      <p:sp>
        <p:nvSpPr>
          <p:cNvPr id="5" name="Shape 2"/>
          <p:cNvSpPr/>
          <p:nvPr/>
        </p:nvSpPr>
        <p:spPr>
          <a:xfrm>
            <a:off x="9244584" y="1691640"/>
            <a:ext cx="1828800" cy="1828800"/>
          </a:xfrm>
          <a:prstGeom prst="ellipse">
            <a:avLst/>
          </a:prstGeom>
          <a:solidFill>
            <a:schemeClr val="accent1">
              <a:alpha val="10000"/>
            </a:schemeClr>
          </a:solidFill>
          <a:ln/>
        </p:spPr>
      </p:sp>
      <p:pic>
        <p:nvPicPr>
          <p:cNvPr id="6" name="Image 0" descr="Capy cheering with stars">    </p:cNvPr>
          <p:cNvPicPr>
            <a:picLocks noChangeAspect="1"/>
          </p:cNvPicPr>
          <p:nvPr/>
        </p:nvPicPr>
        <p:blipFill>
          <a:blip r:embed="rId1"/>
          <a:stretch>
            <a:fillRect/>
          </a:stretch>
        </p:blipFill>
        <p:spPr>
          <a:xfrm>
            <a:off x="9509760" y="2011680"/>
            <a:ext cx="1307592" cy="1188720"/>
          </a:xfrm>
          <a:prstGeom prst="rect">
            <a:avLst/>
          </a:prstGeom>
        </p:spPr>
      </p:pic>
      <p:sp>
        <p:nvSpPr>
          <p:cNvPr id="7" name="USP summary"/>
          <p:cNvSpPr/>
          <p:nvPr/>
        </p:nvSpPr>
        <p:spPr>
          <a:xfrm>
            <a:off x="8686800" y="3794760"/>
            <a:ext cx="2953512" cy="2057400"/>
          </a:xfrm>
          <a:prstGeom prst="roundRect">
            <a:avLst>
              <a:gd name="adj" fmla="val 5333"/>
            </a:avLst>
          </a:prstGeom>
          <a:solidFill>
            <a:schemeClr val="tx1"/>
          </a:solidFill>
          <a:ln/>
        </p:spPr>
      </p:sp>
      <p:sp>
        <p:nvSpPr>
          <p:cNvPr id="8" name="Text 4"/>
          <p:cNvSpPr txBox="1"/>
          <p:nvPr/>
        </p:nvSpPr>
        <p:spPr>
          <a:xfrm>
            <a:off x="8961120" y="4023360"/>
            <a:ext cx="2514600" cy="1645920"/>
          </a:xfrm>
          <a:prstGeom prst="rect">
            <a:avLst/>
          </a:prstGeom>
          <a:noFill/>
          <a:ln/>
        </p:spPr>
        <p:txBody>
          <a:bodyPr wrap="square" lIns="0" tIns="0" rIns="0" bIns="0" rtlCol="0" anchor="ctr"/>
          <a:lstStyle/>
          <a:p>
            <a:pPr indent="0" marL="0">
              <a:spcAft>
                <a:spcPts val="1000"/>
              </a:spcAft>
              <a:buNone/>
            </a:pPr>
            <a:r>
              <a:rPr lang="en-US" sz="1800" b="1" dirty="0">
                <a:solidFill>
                  <a:schemeClr val="bg1"/>
                </a:solidFill>
              </a:rPr>
              <a:t>Verified, not public</a:t>
            </a:r>
            <a:endParaRPr lang="en-US" sz="1800" dirty="0"/>
          </a:p>
          <a:p>
            <a:pPr indent="0" marL="0">
              <a:spcAft>
                <a:spcPts val="1000"/>
              </a:spcAft>
              <a:buNone/>
            </a:pPr>
            <a:r>
              <a:rPr lang="en-US" sz="1800" b="1" dirty="0">
                <a:solidFill>
                  <a:schemeClr val="bg1"/>
                </a:solidFill>
              </a:rPr>
              <a:t>Helpful, not viral</a:t>
            </a:r>
            <a:endParaRPr lang="en-US" sz="1800" dirty="0"/>
          </a:p>
          <a:p>
            <a:pPr indent="0" marL="0">
              <a:spcAft>
                <a:spcPts val="1000"/>
              </a:spcAft>
              <a:buNone/>
            </a:pPr>
            <a:r>
              <a:rPr lang="en-US" sz="1800" b="1" dirty="0">
                <a:solidFill>
                  <a:schemeClr val="bg1"/>
                </a:solidFill>
              </a:rPr>
              <a:t>Supportive, not monitored</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Capy makes asking for help feel safe</a:t>
            </a: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lIns="0" tIns="0" rIns="0" bIns="0" rtlCol="0" anchor="t"/>
          <a:lstStyle/>
          <a:p>
            <a:pPr indent="0" marL="0">
              <a:buNone/>
            </a:pPr>
            <a:r>
              <a:rPr lang="en-US" sz="1600" dirty="0">
                <a:solidFill>
                  <a:schemeClr val="tx2"/>
                </a:solidFill>
              </a:rPr>
              <a:t>Same Capy, different moments, built on well-studied behavioural psychology.</a:t>
            </a:r>
            <a:endParaRPr lang="en-US" sz="1600" dirty="0"/>
          </a:p>
        </p:txBody>
      </p:sp>
      <p:sp>
        <p:nvSpPr>
          <p:cNvPr id="4" name="Shape 2"/>
          <p:cNvSpPr/>
          <p:nvPr/>
        </p:nvSpPr>
        <p:spPr>
          <a:xfrm>
            <a:off x="868680" y="1828800"/>
            <a:ext cx="2148840" cy="2148840"/>
          </a:xfrm>
          <a:prstGeom prst="ellipse">
            <a:avLst/>
          </a:prstGeom>
          <a:solidFill>
            <a:schemeClr val="accent1">
              <a:alpha val="10000"/>
            </a:schemeClr>
          </a:solidFill>
          <a:ln/>
        </p:spPr>
      </p:sp>
      <p:pic>
        <p:nvPicPr>
          <p:cNvPr id="5" name="Image 0" descr="Capy waving">    </p:cNvPr>
          <p:cNvPicPr>
            <a:picLocks noChangeAspect="1"/>
          </p:cNvPicPr>
          <p:nvPr/>
        </p:nvPicPr>
        <p:blipFill>
          <a:blip r:embed="rId1"/>
          <a:stretch>
            <a:fillRect/>
          </a:stretch>
        </p:blipFill>
        <p:spPr>
          <a:xfrm>
            <a:off x="1188720" y="2240280"/>
            <a:ext cx="1508760" cy="1389888"/>
          </a:xfrm>
          <a:prstGeom prst="rect">
            <a:avLst/>
          </a:prstGeom>
        </p:spPr>
      </p:pic>
      <p:pic>
        <p:nvPicPr>
          <p:cNvPr id="6" name="Image 1" descr="Capy outfit hr">    </p:cNvPr>
          <p:cNvPicPr>
            <a:picLocks noChangeAspect="1"/>
          </p:cNvPicPr>
          <p:nvPr/>
        </p:nvPicPr>
        <p:blipFill>
          <a:blip r:embed="rId2"/>
          <a:stretch>
            <a:fillRect/>
          </a:stretch>
        </p:blipFill>
        <p:spPr>
          <a:xfrm>
            <a:off x="876155" y="4434840"/>
            <a:ext cx="579410" cy="868680"/>
          </a:xfrm>
          <a:prstGeom prst="rect">
            <a:avLst/>
          </a:prstGeom>
        </p:spPr>
      </p:pic>
      <p:pic>
        <p:nvPicPr>
          <p:cNvPr id="7" name="Image 2" descr="Capy outfit tech">    </p:cNvPr>
          <p:cNvPicPr>
            <a:picLocks noChangeAspect="1"/>
          </p:cNvPicPr>
          <p:nvPr/>
        </p:nvPicPr>
        <p:blipFill>
          <a:blip r:embed="rId3"/>
          <a:stretch>
            <a:fillRect/>
          </a:stretch>
        </p:blipFill>
        <p:spPr>
          <a:xfrm>
            <a:off x="1722181" y="4434840"/>
            <a:ext cx="569854" cy="868680"/>
          </a:xfrm>
          <a:prstGeom prst="rect">
            <a:avLst/>
          </a:prstGeom>
        </p:spPr>
      </p:pic>
      <p:pic>
        <p:nvPicPr>
          <p:cNvPr id="8" name="Image 3" descr="Capy support">    </p:cNvPr>
          <p:cNvPicPr>
            <a:picLocks noChangeAspect="1"/>
          </p:cNvPicPr>
          <p:nvPr/>
        </p:nvPicPr>
        <p:blipFill>
          <a:blip r:embed="rId4"/>
          <a:stretch>
            <a:fillRect/>
          </a:stretch>
        </p:blipFill>
        <p:spPr>
          <a:xfrm>
            <a:off x="2414016" y="4434840"/>
            <a:ext cx="868680" cy="868680"/>
          </a:xfrm>
          <a:prstGeom prst="rect">
            <a:avLst/>
          </a:prstGeom>
        </p:spPr>
      </p:pic>
      <p:sp>
        <p:nvSpPr>
          <p:cNvPr id="9" name="Text 3"/>
          <p:cNvSpPr txBox="1"/>
          <p:nvPr/>
        </p:nvSpPr>
        <p:spPr>
          <a:xfrm>
            <a:off x="548640" y="5394960"/>
            <a:ext cx="2788920" cy="548640"/>
          </a:xfrm>
          <a:prstGeom prst="rect">
            <a:avLst/>
          </a:prstGeom>
          <a:noFill/>
          <a:ln/>
        </p:spPr>
        <p:txBody>
          <a:bodyPr wrap="square" lIns="0" tIns="0" rIns="0" bIns="0" rtlCol="0" anchor="t"/>
          <a:lstStyle/>
          <a:p>
            <a:pPr algn="ctr" indent="0" marL="0">
              <a:buNone/>
            </a:pPr>
            <a:r>
              <a:rPr lang="en-US" sz="1200" dirty="0">
                <a:solidFill>
                  <a:srgbClr val="6B7690"/>
                </a:solidFill>
              </a:rPr>
              <a:t>Dresses for your role, reacts to your mood</a:t>
            </a:r>
            <a:endParaRPr lang="en-US" sz="1200" dirty="0"/>
          </a:p>
        </p:txBody>
      </p:sp>
      <p:sp>
        <p:nvSpPr>
          <p:cNvPr id="10" name="Text 4"/>
          <p:cNvSpPr txBox="1"/>
          <p:nvPr/>
        </p:nvSpPr>
        <p:spPr>
          <a:xfrm>
            <a:off x="3611880" y="1645920"/>
            <a:ext cx="4206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WHY IT WORKS</a:t>
            </a:r>
            <a:endParaRPr lang="en-US" sz="1200" dirty="0"/>
          </a:p>
        </p:txBody>
      </p:sp>
      <p:sp>
        <p:nvSpPr>
          <p:cNvPr id="11" name="Why icon 1"/>
          <p:cNvSpPr/>
          <p:nvPr/>
        </p:nvSpPr>
        <p:spPr>
          <a:xfrm>
            <a:off x="3611880" y="2011680"/>
            <a:ext cx="548640" cy="548640"/>
          </a:xfrm>
          <a:prstGeom prst="roundRect">
            <a:avLst>
              <a:gd name="adj" fmla="val 28000"/>
            </a:avLst>
          </a:prstGeom>
          <a:solidFill>
            <a:schemeClr val="accent1">
              <a:alpha val="14000"/>
            </a:schemeClr>
          </a:solidFill>
          <a:ln/>
        </p:spPr>
      </p:sp>
      <p:pic>
        <p:nvPicPr>
          <p:cNvPr id="12" name="Image 4" descr="preencoded.png">    </p:cNvPr>
          <p:cNvPicPr>
            <a:picLocks noChangeAspect="1"/>
          </p:cNvPicPr>
          <p:nvPr/>
        </p:nvPicPr>
        <p:blipFill>
          <a:blip r:embed="rId5"/>
          <a:stretch>
            <a:fillRect/>
          </a:stretch>
        </p:blipFill>
        <p:spPr>
          <a:xfrm>
            <a:off x="3743554" y="2143354"/>
            <a:ext cx="285293" cy="285293"/>
          </a:xfrm>
          <a:prstGeom prst="rect">
            <a:avLst/>
          </a:prstGeom>
        </p:spPr>
      </p:pic>
      <p:sp>
        <p:nvSpPr>
          <p:cNvPr id="13" name="Text 6"/>
          <p:cNvSpPr txBox="1"/>
          <p:nvPr/>
        </p:nvSpPr>
        <p:spPr>
          <a:xfrm>
            <a:off x="4343400" y="2011680"/>
            <a:ext cx="3520440" cy="292608"/>
          </a:xfrm>
          <a:prstGeom prst="rect">
            <a:avLst/>
          </a:prstGeom>
          <a:noFill/>
          <a:ln/>
        </p:spPr>
        <p:txBody>
          <a:bodyPr wrap="square" lIns="0" tIns="0" rIns="0" bIns="0" rtlCol="0" anchor="t"/>
          <a:lstStyle/>
          <a:p>
            <a:pPr indent="0" marL="0">
              <a:buNone/>
            </a:pPr>
            <a:r>
              <a:rPr lang="en-US" sz="1500" b="1" dirty="0">
                <a:solidFill>
                  <a:schemeClr val="tx1"/>
                </a:solidFill>
              </a:rPr>
              <a:t>Cuteness invites care</a:t>
            </a:r>
            <a:endParaRPr lang="en-US" sz="1500" dirty="0"/>
          </a:p>
        </p:txBody>
      </p:sp>
      <p:sp>
        <p:nvSpPr>
          <p:cNvPr id="14" name="Text 7"/>
          <p:cNvSpPr txBox="1"/>
          <p:nvPr/>
        </p:nvSpPr>
        <p:spPr>
          <a:xfrm>
            <a:off x="4343400" y="2322576"/>
            <a:ext cx="3520440" cy="658368"/>
          </a:xfrm>
          <a:prstGeom prst="rect">
            <a:avLst/>
          </a:prstGeom>
          <a:noFill/>
          <a:ln/>
        </p:spPr>
        <p:txBody>
          <a:bodyPr wrap="square" lIns="0" tIns="0" rIns="0" bIns="0" rtlCol="0" anchor="t"/>
          <a:lstStyle/>
          <a:p>
            <a:pPr indent="0" marL="0">
              <a:buNone/>
            </a:pPr>
            <a:r>
              <a:rPr lang="en-US" sz="1300" dirty="0">
                <a:solidFill>
                  <a:schemeClr val="tx2"/>
                </a:solidFill>
              </a:rPr>
              <a:t>Round, soft “baby-schema” features trigger warmth and lower defences.</a:t>
            </a:r>
            <a:endParaRPr lang="en-US" sz="1300" dirty="0"/>
          </a:p>
        </p:txBody>
      </p:sp>
      <p:sp>
        <p:nvSpPr>
          <p:cNvPr id="15" name="Why icon 2"/>
          <p:cNvSpPr/>
          <p:nvPr/>
        </p:nvSpPr>
        <p:spPr>
          <a:xfrm>
            <a:off x="3611880" y="3035808"/>
            <a:ext cx="548640" cy="548640"/>
          </a:xfrm>
          <a:prstGeom prst="roundRect">
            <a:avLst>
              <a:gd name="adj" fmla="val 28000"/>
            </a:avLst>
          </a:prstGeom>
          <a:solidFill>
            <a:schemeClr val="accent5">
              <a:alpha val="14000"/>
            </a:schemeClr>
          </a:solidFill>
          <a:ln/>
        </p:spPr>
      </p:sp>
      <p:pic>
        <p:nvPicPr>
          <p:cNvPr id="16" name="Image 5" descr="preencoded.png">    </p:cNvPr>
          <p:cNvPicPr>
            <a:picLocks noChangeAspect="1"/>
          </p:cNvPicPr>
          <p:nvPr/>
        </p:nvPicPr>
        <p:blipFill>
          <a:blip r:embed="rId6"/>
          <a:stretch>
            <a:fillRect/>
          </a:stretch>
        </p:blipFill>
        <p:spPr>
          <a:xfrm>
            <a:off x="3743554" y="3167482"/>
            <a:ext cx="285293" cy="285293"/>
          </a:xfrm>
          <a:prstGeom prst="rect">
            <a:avLst/>
          </a:prstGeom>
        </p:spPr>
      </p:pic>
      <p:sp>
        <p:nvSpPr>
          <p:cNvPr id="17" name="Text 9"/>
          <p:cNvSpPr txBox="1"/>
          <p:nvPr/>
        </p:nvSpPr>
        <p:spPr>
          <a:xfrm>
            <a:off x="4343400" y="3035808"/>
            <a:ext cx="3520440" cy="292608"/>
          </a:xfrm>
          <a:prstGeom prst="rect">
            <a:avLst/>
          </a:prstGeom>
          <a:noFill/>
          <a:ln/>
        </p:spPr>
        <p:txBody>
          <a:bodyPr wrap="square" lIns="0" tIns="0" rIns="0" bIns="0" rtlCol="0" anchor="t"/>
          <a:lstStyle/>
          <a:p>
            <a:pPr indent="0" marL="0">
              <a:buNone/>
            </a:pPr>
            <a:r>
              <a:rPr lang="en-US" sz="1500" b="1" dirty="0">
                <a:solidFill>
                  <a:schemeClr val="tx1"/>
                </a:solidFill>
              </a:rPr>
              <a:t>A listener that never judges</a:t>
            </a:r>
            <a:endParaRPr lang="en-US" sz="1500" dirty="0"/>
          </a:p>
        </p:txBody>
      </p:sp>
      <p:sp>
        <p:nvSpPr>
          <p:cNvPr id="18" name="Text 10"/>
          <p:cNvSpPr txBox="1"/>
          <p:nvPr/>
        </p:nvSpPr>
        <p:spPr>
          <a:xfrm>
            <a:off x="4343400" y="3346704"/>
            <a:ext cx="3520440" cy="658368"/>
          </a:xfrm>
          <a:prstGeom prst="rect">
            <a:avLst/>
          </a:prstGeom>
          <a:noFill/>
          <a:ln/>
        </p:spPr>
        <p:txBody>
          <a:bodyPr wrap="square" lIns="0" tIns="0" rIns="0" bIns="0" rtlCol="0" anchor="t"/>
          <a:lstStyle/>
          <a:p>
            <a:pPr indent="0" marL="0">
              <a:buNone/>
            </a:pPr>
            <a:r>
              <a:rPr lang="en-US" sz="1300" dirty="0">
                <a:solidFill>
                  <a:schemeClr val="tx2"/>
                </a:solidFill>
              </a:rPr>
              <a:t>People disclose more to a virtual agent they see as non-judging (Lucas et al., 2014).</a:t>
            </a:r>
            <a:endParaRPr lang="en-US" sz="1300" dirty="0"/>
          </a:p>
        </p:txBody>
      </p:sp>
      <p:sp>
        <p:nvSpPr>
          <p:cNvPr id="19" name="Why icon 3"/>
          <p:cNvSpPr/>
          <p:nvPr/>
        </p:nvSpPr>
        <p:spPr>
          <a:xfrm>
            <a:off x="3611880" y="4059936"/>
            <a:ext cx="548640" cy="548640"/>
          </a:xfrm>
          <a:prstGeom prst="roundRect">
            <a:avLst>
              <a:gd name="adj" fmla="val 28000"/>
            </a:avLst>
          </a:prstGeom>
          <a:solidFill>
            <a:schemeClr val="accent3">
              <a:alpha val="14000"/>
            </a:schemeClr>
          </a:solidFill>
          <a:ln/>
        </p:spPr>
      </p:sp>
      <p:pic>
        <p:nvPicPr>
          <p:cNvPr id="20" name="Image 6" descr="preencoded.png">    </p:cNvPr>
          <p:cNvPicPr>
            <a:picLocks noChangeAspect="1"/>
          </p:cNvPicPr>
          <p:nvPr/>
        </p:nvPicPr>
        <p:blipFill>
          <a:blip r:embed="rId7"/>
          <a:stretch>
            <a:fillRect/>
          </a:stretch>
        </p:blipFill>
        <p:spPr>
          <a:xfrm>
            <a:off x="3743554" y="4191610"/>
            <a:ext cx="285293" cy="285293"/>
          </a:xfrm>
          <a:prstGeom prst="rect">
            <a:avLst/>
          </a:prstGeom>
        </p:spPr>
      </p:pic>
      <p:sp>
        <p:nvSpPr>
          <p:cNvPr id="21" name="Text 12"/>
          <p:cNvSpPr txBox="1"/>
          <p:nvPr/>
        </p:nvSpPr>
        <p:spPr>
          <a:xfrm>
            <a:off x="4343400" y="4059936"/>
            <a:ext cx="3520440" cy="292608"/>
          </a:xfrm>
          <a:prstGeom prst="rect">
            <a:avLst/>
          </a:prstGeom>
          <a:noFill/>
          <a:ln/>
        </p:spPr>
        <p:txBody>
          <a:bodyPr wrap="square" lIns="0" tIns="0" rIns="0" bIns="0" rtlCol="0" anchor="t"/>
          <a:lstStyle/>
          <a:p>
            <a:pPr indent="0" marL="0">
              <a:buNone/>
            </a:pPr>
            <a:r>
              <a:rPr lang="en-US" sz="1500" b="1" dirty="0">
                <a:solidFill>
                  <a:schemeClr val="tx1"/>
                </a:solidFill>
              </a:rPr>
              <a:t>Mirroring builds trust</a:t>
            </a:r>
            <a:endParaRPr lang="en-US" sz="1500" dirty="0"/>
          </a:p>
        </p:txBody>
      </p:sp>
      <p:sp>
        <p:nvSpPr>
          <p:cNvPr id="22" name="Text 13"/>
          <p:cNvSpPr txBox="1"/>
          <p:nvPr/>
        </p:nvSpPr>
        <p:spPr>
          <a:xfrm>
            <a:off x="4343400" y="4370832"/>
            <a:ext cx="3520440" cy="658368"/>
          </a:xfrm>
          <a:prstGeom prst="rect">
            <a:avLst/>
          </a:prstGeom>
          <a:noFill/>
          <a:ln/>
        </p:spPr>
        <p:txBody>
          <a:bodyPr wrap="square" lIns="0" tIns="0" rIns="0" bIns="0" rtlCol="0" anchor="t"/>
          <a:lstStyle/>
          <a:p>
            <a:pPr indent="0" marL="0">
              <a:buNone/>
            </a:pPr>
            <a:r>
              <a:rPr lang="en-US" sz="1300" dirty="0">
                <a:solidFill>
                  <a:schemeClr val="tx2"/>
                </a:solidFill>
              </a:rPr>
              <a:t>Capy reacts to your mood, so you feel heard, not processed.</a:t>
            </a:r>
            <a:endParaRPr lang="en-US" sz="1300" dirty="0"/>
          </a:p>
        </p:txBody>
      </p:sp>
      <p:sp>
        <p:nvSpPr>
          <p:cNvPr id="23" name="Why icon 4"/>
          <p:cNvSpPr/>
          <p:nvPr/>
        </p:nvSpPr>
        <p:spPr>
          <a:xfrm>
            <a:off x="3611880" y="5084064"/>
            <a:ext cx="548640" cy="548640"/>
          </a:xfrm>
          <a:prstGeom prst="roundRect">
            <a:avLst>
              <a:gd name="adj" fmla="val 28000"/>
            </a:avLst>
          </a:prstGeom>
          <a:solidFill>
            <a:schemeClr val="accent4">
              <a:alpha val="14000"/>
            </a:schemeClr>
          </a:solidFill>
          <a:ln/>
        </p:spPr>
      </p:sp>
      <p:pic>
        <p:nvPicPr>
          <p:cNvPr id="24" name="Image 7" descr="preencoded.png">    </p:cNvPr>
          <p:cNvPicPr>
            <a:picLocks noChangeAspect="1"/>
          </p:cNvPicPr>
          <p:nvPr/>
        </p:nvPicPr>
        <p:blipFill>
          <a:blip r:embed="rId8"/>
          <a:stretch>
            <a:fillRect/>
          </a:stretch>
        </p:blipFill>
        <p:spPr>
          <a:xfrm>
            <a:off x="3743554" y="5215738"/>
            <a:ext cx="285293" cy="285293"/>
          </a:xfrm>
          <a:prstGeom prst="rect">
            <a:avLst/>
          </a:prstGeom>
        </p:spPr>
      </p:pic>
      <p:sp>
        <p:nvSpPr>
          <p:cNvPr id="25" name="Text 15"/>
          <p:cNvSpPr txBox="1"/>
          <p:nvPr/>
        </p:nvSpPr>
        <p:spPr>
          <a:xfrm>
            <a:off x="4343400" y="5084064"/>
            <a:ext cx="3520440" cy="292608"/>
          </a:xfrm>
          <a:prstGeom prst="rect">
            <a:avLst/>
          </a:prstGeom>
          <a:noFill/>
          <a:ln/>
        </p:spPr>
        <p:txBody>
          <a:bodyPr wrap="square" lIns="0" tIns="0" rIns="0" bIns="0" rtlCol="0" anchor="t"/>
          <a:lstStyle/>
          <a:p>
            <a:pPr indent="0" marL="0">
              <a:buNone/>
            </a:pPr>
            <a:r>
              <a:rPr lang="en-US" sz="1500" b="1" dirty="0">
                <a:solidFill>
                  <a:schemeClr val="tx1"/>
                </a:solidFill>
              </a:rPr>
              <a:t>Celebration builds habits</a:t>
            </a:r>
            <a:endParaRPr lang="en-US" sz="1500" dirty="0"/>
          </a:p>
        </p:txBody>
      </p:sp>
      <p:sp>
        <p:nvSpPr>
          <p:cNvPr id="26" name="Text 16"/>
          <p:cNvSpPr txBox="1"/>
          <p:nvPr/>
        </p:nvSpPr>
        <p:spPr>
          <a:xfrm>
            <a:off x="4343400" y="5394960"/>
            <a:ext cx="3520440" cy="658368"/>
          </a:xfrm>
          <a:prstGeom prst="rect">
            <a:avLst/>
          </a:prstGeom>
          <a:noFill/>
          <a:ln/>
        </p:spPr>
        <p:txBody>
          <a:bodyPr wrap="square" lIns="0" tIns="0" rIns="0" bIns="0" rtlCol="0" anchor="t"/>
          <a:lstStyle/>
          <a:p>
            <a:pPr indent="0" marL="0">
              <a:buNone/>
            </a:pPr>
            <a:r>
              <a:rPr lang="en-US" sz="1300" dirty="0">
                <a:solidFill>
                  <a:schemeClr val="tx2"/>
                </a:solidFill>
              </a:rPr>
              <a:t>Cheers and progress bars use positive reinforcement and the goal-gradient effect.</a:t>
            </a:r>
            <a:endParaRPr lang="en-US" sz="1300" dirty="0"/>
          </a:p>
        </p:txBody>
      </p:sp>
      <p:sp>
        <p:nvSpPr>
          <p:cNvPr id="27" name="Text 17"/>
          <p:cNvSpPr txBox="1"/>
          <p:nvPr/>
        </p:nvSpPr>
        <p:spPr>
          <a:xfrm>
            <a:off x="8183880" y="1645920"/>
            <a:ext cx="345643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PROVEN ELSEWHERE</a:t>
            </a:r>
            <a:endParaRPr lang="en-US" sz="1200" dirty="0"/>
          </a:p>
        </p:txBody>
      </p:sp>
      <p:sp>
        <p:nvSpPr>
          <p:cNvPr id="28" name="Example 1"/>
          <p:cNvSpPr/>
          <p:nvPr/>
        </p:nvSpPr>
        <p:spPr>
          <a:xfrm>
            <a:off x="8183880" y="2011680"/>
            <a:ext cx="3456432" cy="896112"/>
          </a:xfrm>
          <a:prstGeom prst="roundRect">
            <a:avLst>
              <a:gd name="adj" fmla="val 12245"/>
            </a:avLst>
          </a:prstGeom>
          <a:solidFill>
            <a:schemeClr val="bg2"/>
          </a:solidFill>
          <a:ln/>
        </p:spPr>
      </p:sp>
      <p:sp>
        <p:nvSpPr>
          <p:cNvPr id="29" name="Text 19"/>
          <p:cNvSpPr txBox="1"/>
          <p:nvPr/>
        </p:nvSpPr>
        <p:spPr>
          <a:xfrm>
            <a:off x="8366760" y="2103120"/>
            <a:ext cx="3108960" cy="274320"/>
          </a:xfrm>
          <a:prstGeom prst="rect">
            <a:avLst/>
          </a:prstGeom>
          <a:noFill/>
          <a:ln/>
        </p:spPr>
        <p:txBody>
          <a:bodyPr wrap="square" lIns="0" tIns="0" rIns="0" bIns="0" rtlCol="0" anchor="t"/>
          <a:lstStyle/>
          <a:p>
            <a:pPr indent="0" marL="0">
              <a:buNone/>
            </a:pPr>
            <a:r>
              <a:rPr lang="en-US" sz="1400" b="1" dirty="0">
                <a:solidFill>
                  <a:schemeClr val="tx1"/>
                </a:solidFill>
              </a:rPr>
              <a:t>Duolingo</a:t>
            </a:r>
            <a:endParaRPr lang="en-US" sz="1400" dirty="0"/>
          </a:p>
        </p:txBody>
      </p:sp>
      <p:sp>
        <p:nvSpPr>
          <p:cNvPr id="30" name="Text 20"/>
          <p:cNvSpPr txBox="1"/>
          <p:nvPr/>
        </p:nvSpPr>
        <p:spPr>
          <a:xfrm>
            <a:off x="8366760" y="2377440"/>
            <a:ext cx="3154680" cy="502920"/>
          </a:xfrm>
          <a:prstGeom prst="rect">
            <a:avLst/>
          </a:prstGeom>
          <a:noFill/>
          <a:ln/>
        </p:spPr>
        <p:txBody>
          <a:bodyPr wrap="square" lIns="0" tIns="0" rIns="0" bIns="0" rtlCol="0" anchor="t"/>
          <a:lstStyle/>
          <a:p>
            <a:pPr indent="0" marL="0">
              <a:buNone/>
            </a:pPr>
            <a:r>
              <a:rPr lang="en-US" sz="1200" dirty="0">
                <a:solidFill>
                  <a:schemeClr val="tx2"/>
                </a:solidFill>
              </a:rPr>
              <a:t>Duo the owl’s reminders and celebrations turned daily practice into a habit.</a:t>
            </a:r>
            <a:endParaRPr lang="en-US" sz="1200" dirty="0"/>
          </a:p>
        </p:txBody>
      </p:sp>
      <p:sp>
        <p:nvSpPr>
          <p:cNvPr id="31" name="Example 2"/>
          <p:cNvSpPr/>
          <p:nvPr/>
        </p:nvSpPr>
        <p:spPr>
          <a:xfrm>
            <a:off x="8183880" y="3035808"/>
            <a:ext cx="3456432" cy="896112"/>
          </a:xfrm>
          <a:prstGeom prst="roundRect">
            <a:avLst>
              <a:gd name="adj" fmla="val 12245"/>
            </a:avLst>
          </a:prstGeom>
          <a:solidFill>
            <a:schemeClr val="bg2"/>
          </a:solidFill>
          <a:ln/>
        </p:spPr>
      </p:sp>
      <p:sp>
        <p:nvSpPr>
          <p:cNvPr id="32" name="Text 22"/>
          <p:cNvSpPr txBox="1"/>
          <p:nvPr/>
        </p:nvSpPr>
        <p:spPr>
          <a:xfrm>
            <a:off x="8366760" y="3127248"/>
            <a:ext cx="3108960" cy="274320"/>
          </a:xfrm>
          <a:prstGeom prst="rect">
            <a:avLst/>
          </a:prstGeom>
          <a:noFill/>
          <a:ln/>
        </p:spPr>
        <p:txBody>
          <a:bodyPr wrap="square" lIns="0" tIns="0" rIns="0" bIns="0" rtlCol="0" anchor="t"/>
          <a:lstStyle/>
          <a:p>
            <a:pPr indent="0" marL="0">
              <a:buNone/>
            </a:pPr>
            <a:r>
              <a:rPr lang="en-US" sz="1400" b="1" dirty="0">
                <a:solidFill>
                  <a:schemeClr val="tx1"/>
                </a:solidFill>
              </a:rPr>
              <a:t>Finch</a:t>
            </a:r>
            <a:endParaRPr lang="en-US" sz="1400" dirty="0"/>
          </a:p>
        </p:txBody>
      </p:sp>
      <p:sp>
        <p:nvSpPr>
          <p:cNvPr id="33" name="Text 23"/>
          <p:cNvSpPr txBox="1"/>
          <p:nvPr/>
        </p:nvSpPr>
        <p:spPr>
          <a:xfrm>
            <a:off x="8366760" y="3401568"/>
            <a:ext cx="3154680" cy="502920"/>
          </a:xfrm>
          <a:prstGeom prst="rect">
            <a:avLst/>
          </a:prstGeom>
          <a:noFill/>
          <a:ln/>
        </p:spPr>
        <p:txBody>
          <a:bodyPr wrap="square" lIns="0" tIns="0" rIns="0" bIns="0" rtlCol="0" anchor="t"/>
          <a:lstStyle/>
          <a:p>
            <a:pPr indent="0" marL="0">
              <a:buNone/>
            </a:pPr>
            <a:r>
              <a:rPr lang="en-US" sz="1200" dirty="0">
                <a:solidFill>
                  <a:schemeClr val="tx2"/>
                </a:solidFill>
              </a:rPr>
              <a:t>People look after a virtual bird by completing real self-care tasks.</a:t>
            </a:r>
            <a:endParaRPr lang="en-US" sz="1200" dirty="0"/>
          </a:p>
        </p:txBody>
      </p:sp>
      <p:sp>
        <p:nvSpPr>
          <p:cNvPr id="34" name="Example 3"/>
          <p:cNvSpPr/>
          <p:nvPr/>
        </p:nvSpPr>
        <p:spPr>
          <a:xfrm>
            <a:off x="8183880" y="4059936"/>
            <a:ext cx="3456432" cy="896112"/>
          </a:xfrm>
          <a:prstGeom prst="roundRect">
            <a:avLst>
              <a:gd name="adj" fmla="val 12245"/>
            </a:avLst>
          </a:prstGeom>
          <a:solidFill>
            <a:schemeClr val="bg2"/>
          </a:solidFill>
          <a:ln/>
        </p:spPr>
      </p:sp>
      <p:sp>
        <p:nvSpPr>
          <p:cNvPr id="35" name="Text 25"/>
          <p:cNvSpPr txBox="1"/>
          <p:nvPr/>
        </p:nvSpPr>
        <p:spPr>
          <a:xfrm>
            <a:off x="8366760" y="4151376"/>
            <a:ext cx="3108960" cy="274320"/>
          </a:xfrm>
          <a:prstGeom prst="rect">
            <a:avLst/>
          </a:prstGeom>
          <a:noFill/>
          <a:ln/>
        </p:spPr>
        <p:txBody>
          <a:bodyPr wrap="square" lIns="0" tIns="0" rIns="0" bIns="0" rtlCol="0" anchor="t"/>
          <a:lstStyle/>
          <a:p>
            <a:pPr indent="0" marL="0">
              <a:buNone/>
            </a:pPr>
            <a:r>
              <a:rPr lang="en-US" sz="1400" b="1" dirty="0">
                <a:solidFill>
                  <a:schemeClr val="tx1"/>
                </a:solidFill>
              </a:rPr>
              <a:t>Headspace</a:t>
            </a:r>
            <a:endParaRPr lang="en-US" sz="1400" dirty="0"/>
          </a:p>
        </p:txBody>
      </p:sp>
      <p:sp>
        <p:nvSpPr>
          <p:cNvPr id="36" name="Text 26"/>
          <p:cNvSpPr txBox="1"/>
          <p:nvPr/>
        </p:nvSpPr>
        <p:spPr>
          <a:xfrm>
            <a:off x="8366760" y="4425696"/>
            <a:ext cx="3154680" cy="502920"/>
          </a:xfrm>
          <a:prstGeom prst="rect">
            <a:avLst/>
          </a:prstGeom>
          <a:noFill/>
          <a:ln/>
        </p:spPr>
        <p:txBody>
          <a:bodyPr wrap="square" lIns="0" tIns="0" rIns="0" bIns="0" rtlCol="0" anchor="t"/>
          <a:lstStyle/>
          <a:p>
            <a:pPr indent="0" marL="0">
              <a:buNone/>
            </a:pPr>
            <a:r>
              <a:rPr lang="en-US" sz="1200" dirty="0">
                <a:solidFill>
                  <a:schemeClr val="tx2"/>
                </a:solidFill>
              </a:rPr>
              <a:t>Friendly characters make meditation feel approachable, not clinical.</a:t>
            </a:r>
            <a:endParaRPr lang="en-US" sz="1200" dirty="0"/>
          </a:p>
        </p:txBody>
      </p:sp>
      <p:sp>
        <p:nvSpPr>
          <p:cNvPr id="37" name="Lesson card"/>
          <p:cNvSpPr/>
          <p:nvPr/>
        </p:nvSpPr>
        <p:spPr>
          <a:xfrm>
            <a:off x="8183880" y="5084064"/>
            <a:ext cx="3456432" cy="896112"/>
          </a:xfrm>
          <a:prstGeom prst="roundRect">
            <a:avLst>
              <a:gd name="adj" fmla="val 12245"/>
            </a:avLst>
          </a:prstGeom>
          <a:solidFill>
            <a:schemeClr val="accent4">
              <a:alpha val="12000"/>
            </a:schemeClr>
          </a:solidFill>
          <a:ln/>
        </p:spPr>
      </p:sp>
      <p:sp>
        <p:nvSpPr>
          <p:cNvPr id="38" name="Text 28"/>
          <p:cNvSpPr txBox="1"/>
          <p:nvPr/>
        </p:nvSpPr>
        <p:spPr>
          <a:xfrm>
            <a:off x="8366760" y="5175504"/>
            <a:ext cx="3108960" cy="274320"/>
          </a:xfrm>
          <a:prstGeom prst="rect">
            <a:avLst/>
          </a:prstGeom>
          <a:noFill/>
          <a:ln/>
        </p:spPr>
        <p:txBody>
          <a:bodyPr wrap="square" lIns="0" tIns="0" rIns="0" bIns="0" rtlCol="0" anchor="t"/>
          <a:lstStyle/>
          <a:p>
            <a:pPr indent="0" marL="0">
              <a:buNone/>
            </a:pPr>
            <a:r>
              <a:rPr lang="en-US" sz="1400" b="1" dirty="0">
                <a:solidFill>
                  <a:schemeClr val="accent4"/>
                </a:solidFill>
              </a:rPr>
              <a:t>Clippy (the lesson)</a:t>
            </a:r>
            <a:endParaRPr lang="en-US" sz="1400" dirty="0"/>
          </a:p>
        </p:txBody>
      </p:sp>
      <p:sp>
        <p:nvSpPr>
          <p:cNvPr id="39" name="Text 29"/>
          <p:cNvSpPr txBox="1"/>
          <p:nvPr/>
        </p:nvSpPr>
        <p:spPr>
          <a:xfrm>
            <a:off x="8366760" y="5449824"/>
            <a:ext cx="3154680" cy="502920"/>
          </a:xfrm>
          <a:prstGeom prst="rect">
            <a:avLst/>
          </a:prstGeom>
          <a:noFill/>
          <a:ln/>
        </p:spPr>
        <p:txBody>
          <a:bodyPr wrap="square" lIns="0" tIns="0" rIns="0" bIns="0" rtlCol="0" anchor="t"/>
          <a:lstStyle/>
          <a:p>
            <a:pPr indent="0" marL="0">
              <a:buNone/>
            </a:pPr>
            <a:r>
              <a:rPr lang="en-US" sz="1200" dirty="0">
                <a:solidFill>
                  <a:schemeClr val="tx2"/>
                </a:solidFill>
              </a:rPr>
              <a:t>A mascot that interrupts gets resented. Capy never interrupts or guilt-trips.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Architecture: local-first today, backend-ready by design</a:t>
            </a: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lIns="0" tIns="0" rIns="0" bIns="0" rtlCol="0" anchor="t"/>
          <a:lstStyle/>
          <a:p>
            <a:pPr indent="0" marL="0">
              <a:buNone/>
            </a:pPr>
            <a:r>
              <a:rPr lang="en-US" sz="1600" dirty="0">
                <a:solidFill>
                  <a:schemeClr val="tx2"/>
                </a:solidFill>
              </a:rPr>
              <a:t>Screens talk only to interfaces, so Phase 2 services plug in without rewriting the UI.</a:t>
            </a:r>
            <a:endParaRPr lang="en-US" sz="1600" dirty="0"/>
          </a:p>
        </p:txBody>
      </p:sp>
      <p:sp>
        <p:nvSpPr>
          <p:cNvPr id="4" name="Phase 1"/>
          <p:cNvSpPr/>
          <p:nvPr/>
        </p:nvSpPr>
        <p:spPr>
          <a:xfrm>
            <a:off x="548640" y="1600200"/>
            <a:ext cx="5166360" cy="3703320"/>
          </a:xfrm>
          <a:prstGeom prst="roundRect">
            <a:avLst>
              <a:gd name="adj" fmla="val 2963"/>
            </a:avLst>
          </a:prstGeom>
          <a:solidFill>
            <a:schemeClr val="accent3">
              <a:alpha val="8000"/>
            </a:schemeClr>
          </a:solidFill>
          <a:ln w="12700">
            <a:solidFill>
              <a:srgbClr val="1A8452"/>
            </a:solidFill>
            <a:prstDash val="solid"/>
          </a:ln>
        </p:spPr>
      </p:sp>
      <p:sp>
        <p:nvSpPr>
          <p:cNvPr id="5" name="Text 3"/>
          <p:cNvSpPr txBox="1"/>
          <p:nvPr/>
        </p:nvSpPr>
        <p:spPr>
          <a:xfrm>
            <a:off x="777240"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PHASE 1  ·  BUILT</a:t>
            </a:r>
            <a:endParaRPr lang="en-US" sz="1200" dirty="0"/>
          </a:p>
        </p:txBody>
      </p:sp>
      <p:sp>
        <p:nvSpPr>
          <p:cNvPr id="6" name="Shape 4"/>
          <p:cNvSpPr/>
          <p:nvPr/>
        </p:nvSpPr>
        <p:spPr>
          <a:xfrm>
            <a:off x="777240" y="2103120"/>
            <a:ext cx="4709160" cy="685800"/>
          </a:xfrm>
          <a:prstGeom prst="roundRect">
            <a:avLst>
              <a:gd name="adj" fmla="val 13333"/>
            </a:avLst>
          </a:prstGeom>
          <a:solidFill>
            <a:schemeClr val="bg1"/>
          </a:solidFill>
          <a:ln/>
          <a:effectLst>
            <a:outerShdw sx="100000" sy="100000" kx="0" ky="0" algn="bl" rotWithShape="0" blurRad="101600" dist="25400" dir="5400000">
              <a:srgbClr val="0F1B33">
                <a:alpha val="10000"/>
              </a:srgbClr>
            </a:outerShdw>
          </a:effectLst>
        </p:spPr>
      </p:sp>
      <p:pic>
        <p:nvPicPr>
          <p:cNvPr id="7" name="Image 0" descr="preencoded.png">    </p:cNvPr>
          <p:cNvPicPr>
            <a:picLocks noChangeAspect="1"/>
          </p:cNvPicPr>
          <p:nvPr/>
        </p:nvPicPr>
        <p:blipFill>
          <a:blip r:embed="rId1"/>
          <a:stretch>
            <a:fillRect/>
          </a:stretch>
        </p:blipFill>
        <p:spPr>
          <a:xfrm>
            <a:off x="960120" y="2276856"/>
            <a:ext cx="338328" cy="338328"/>
          </a:xfrm>
          <a:prstGeom prst="rect">
            <a:avLst/>
          </a:prstGeom>
        </p:spPr>
      </p:pic>
      <p:sp>
        <p:nvSpPr>
          <p:cNvPr id="8" name="Text 5"/>
          <p:cNvSpPr txBox="1"/>
          <p:nvPr/>
        </p:nvSpPr>
        <p:spPr>
          <a:xfrm>
            <a:off x="1463040" y="2176272"/>
            <a:ext cx="3840480" cy="274320"/>
          </a:xfrm>
          <a:prstGeom prst="rect">
            <a:avLst/>
          </a:prstGeom>
          <a:noFill/>
          <a:ln/>
        </p:spPr>
        <p:txBody>
          <a:bodyPr wrap="square" lIns="0" tIns="0" rIns="0" bIns="0" rtlCol="0" anchor="t"/>
          <a:lstStyle/>
          <a:p>
            <a:pPr indent="0" marL="0">
              <a:buNone/>
            </a:pPr>
            <a:r>
              <a:rPr lang="en-US" sz="1500" b="1" dirty="0">
                <a:solidFill>
                  <a:schemeClr val="tx1"/>
                </a:solidFill>
              </a:rPr>
              <a:t>Mobile app</a:t>
            </a:r>
            <a:endParaRPr lang="en-US" sz="1500" dirty="0"/>
          </a:p>
        </p:txBody>
      </p:sp>
      <p:sp>
        <p:nvSpPr>
          <p:cNvPr id="9" name="Text 6"/>
          <p:cNvSpPr txBox="1"/>
          <p:nvPr/>
        </p:nvSpPr>
        <p:spPr>
          <a:xfrm>
            <a:off x="1463040" y="2459736"/>
            <a:ext cx="3840480" cy="274320"/>
          </a:xfrm>
          <a:prstGeom prst="rect">
            <a:avLst/>
          </a:prstGeom>
          <a:noFill/>
          <a:ln/>
        </p:spPr>
        <p:txBody>
          <a:bodyPr wrap="square" lIns="0" tIns="0" rIns="0" bIns="0" rtlCol="0" anchor="t"/>
          <a:lstStyle/>
          <a:p>
            <a:pPr indent="0" marL="0">
              <a:buNone/>
            </a:pPr>
            <a:r>
              <a:rPr lang="en-US" sz="1200" dirty="0">
                <a:solidFill>
                  <a:schemeClr val="tx2"/>
                </a:solidFill>
              </a:rPr>
              <a:t>Expo / React Native · iOS, Android, web</a:t>
            </a:r>
            <a:endParaRPr lang="en-US" sz="1200" dirty="0"/>
          </a:p>
        </p:txBody>
      </p:sp>
      <p:sp>
        <p:nvSpPr>
          <p:cNvPr id="10" name="Shape 7"/>
          <p:cNvSpPr/>
          <p:nvPr/>
        </p:nvSpPr>
        <p:spPr>
          <a:xfrm>
            <a:off x="777240" y="2971800"/>
            <a:ext cx="4709160" cy="685800"/>
          </a:xfrm>
          <a:prstGeom prst="roundRect">
            <a:avLst>
              <a:gd name="adj" fmla="val 13333"/>
            </a:avLst>
          </a:prstGeom>
          <a:solidFill>
            <a:schemeClr val="bg1"/>
          </a:solidFill>
          <a:ln/>
          <a:effectLst>
            <a:outerShdw sx="100000" sy="100000" kx="0" ky="0" algn="bl" rotWithShape="0" blurRad="101600" dist="25400" dir="5400000">
              <a:srgbClr val="0F1B33">
                <a:alpha val="10000"/>
              </a:srgbClr>
            </a:outerShdw>
          </a:effectLst>
        </p:spPr>
      </p:sp>
      <p:pic>
        <p:nvPicPr>
          <p:cNvPr id="11" name="Image 1" descr="preencoded.png">    </p:cNvPr>
          <p:cNvPicPr>
            <a:picLocks noChangeAspect="1"/>
          </p:cNvPicPr>
          <p:nvPr/>
        </p:nvPicPr>
        <p:blipFill>
          <a:blip r:embed="rId2"/>
          <a:stretch>
            <a:fillRect/>
          </a:stretch>
        </p:blipFill>
        <p:spPr>
          <a:xfrm>
            <a:off x="960120" y="3145536"/>
            <a:ext cx="338328" cy="338328"/>
          </a:xfrm>
          <a:prstGeom prst="rect">
            <a:avLst/>
          </a:prstGeom>
        </p:spPr>
      </p:pic>
      <p:sp>
        <p:nvSpPr>
          <p:cNvPr id="12" name="Text 8"/>
          <p:cNvSpPr txBox="1"/>
          <p:nvPr/>
        </p:nvSpPr>
        <p:spPr>
          <a:xfrm>
            <a:off x="1463040" y="3044952"/>
            <a:ext cx="3840480" cy="274320"/>
          </a:xfrm>
          <a:prstGeom prst="rect">
            <a:avLst/>
          </a:prstGeom>
          <a:noFill/>
          <a:ln/>
        </p:spPr>
        <p:txBody>
          <a:bodyPr wrap="square" lIns="0" tIns="0" rIns="0" bIns="0" rtlCol="0" anchor="t"/>
          <a:lstStyle/>
          <a:p>
            <a:pPr indent="0" marL="0">
              <a:buNone/>
            </a:pPr>
            <a:r>
              <a:rPr lang="en-US" sz="1500" b="1" dirty="0">
                <a:solidFill>
                  <a:schemeClr val="tx1"/>
                </a:solidFill>
              </a:rPr>
              <a:t>Repository interface</a:t>
            </a:r>
            <a:endParaRPr lang="en-US" sz="1500" dirty="0"/>
          </a:p>
        </p:txBody>
      </p:sp>
      <p:sp>
        <p:nvSpPr>
          <p:cNvPr id="13" name="Text 9"/>
          <p:cNvSpPr txBox="1"/>
          <p:nvPr/>
        </p:nvSpPr>
        <p:spPr>
          <a:xfrm>
            <a:off x="1463040" y="3328416"/>
            <a:ext cx="3840480" cy="274320"/>
          </a:xfrm>
          <a:prstGeom prst="rect">
            <a:avLst/>
          </a:prstGeom>
          <a:noFill/>
          <a:ln/>
        </p:spPr>
        <p:txBody>
          <a:bodyPr wrap="square" lIns="0" tIns="0" rIns="0" bIns="0" rtlCol="0" anchor="t"/>
          <a:lstStyle/>
          <a:p>
            <a:pPr indent="0" marL="0">
              <a:buNone/>
            </a:pPr>
            <a:r>
              <a:rPr lang="en-US" sz="1200" dirty="0">
                <a:solidFill>
                  <a:schemeClr val="tx2"/>
                </a:solidFill>
              </a:rPr>
              <a:t>The only way screens read or write data</a:t>
            </a:r>
            <a:endParaRPr lang="en-US" sz="1200" dirty="0"/>
          </a:p>
        </p:txBody>
      </p:sp>
      <p:sp>
        <p:nvSpPr>
          <p:cNvPr id="14" name="Shape 10"/>
          <p:cNvSpPr/>
          <p:nvPr/>
        </p:nvSpPr>
        <p:spPr>
          <a:xfrm>
            <a:off x="777240" y="3840480"/>
            <a:ext cx="4709160" cy="685800"/>
          </a:xfrm>
          <a:prstGeom prst="roundRect">
            <a:avLst>
              <a:gd name="adj" fmla="val 13333"/>
            </a:avLst>
          </a:prstGeom>
          <a:solidFill>
            <a:schemeClr val="bg1"/>
          </a:solidFill>
          <a:ln/>
          <a:effectLst>
            <a:outerShdw sx="100000" sy="100000" kx="0" ky="0" algn="bl" rotWithShape="0" blurRad="101600" dist="25400" dir="5400000">
              <a:srgbClr val="0F1B33">
                <a:alpha val="10000"/>
              </a:srgbClr>
            </a:outerShdw>
          </a:effectLst>
        </p:spPr>
      </p:sp>
      <p:pic>
        <p:nvPicPr>
          <p:cNvPr id="15" name="Image 2" descr="preencoded.png">    </p:cNvPr>
          <p:cNvPicPr>
            <a:picLocks noChangeAspect="1"/>
          </p:cNvPicPr>
          <p:nvPr/>
        </p:nvPicPr>
        <p:blipFill>
          <a:blip r:embed="rId3"/>
          <a:stretch>
            <a:fillRect/>
          </a:stretch>
        </p:blipFill>
        <p:spPr>
          <a:xfrm>
            <a:off x="960120" y="4014216"/>
            <a:ext cx="338328" cy="338328"/>
          </a:xfrm>
          <a:prstGeom prst="rect">
            <a:avLst/>
          </a:prstGeom>
        </p:spPr>
      </p:pic>
      <p:sp>
        <p:nvSpPr>
          <p:cNvPr id="16" name="Text 11"/>
          <p:cNvSpPr txBox="1"/>
          <p:nvPr/>
        </p:nvSpPr>
        <p:spPr>
          <a:xfrm>
            <a:off x="1463040" y="3913632"/>
            <a:ext cx="3840480" cy="274320"/>
          </a:xfrm>
          <a:prstGeom prst="rect">
            <a:avLst/>
          </a:prstGeom>
          <a:noFill/>
          <a:ln/>
        </p:spPr>
        <p:txBody>
          <a:bodyPr wrap="square" lIns="0" tIns="0" rIns="0" bIns="0" rtlCol="0" anchor="t"/>
          <a:lstStyle/>
          <a:p>
            <a:pPr indent="0" marL="0">
              <a:buNone/>
            </a:pPr>
            <a:r>
              <a:rPr lang="en-US" sz="1500" b="1" dirty="0">
                <a:solidFill>
                  <a:schemeClr val="tx1"/>
                </a:solidFill>
              </a:rPr>
              <a:t>Encrypted on-device database</a:t>
            </a:r>
            <a:endParaRPr lang="en-US" sz="1500" dirty="0"/>
          </a:p>
        </p:txBody>
      </p:sp>
      <p:sp>
        <p:nvSpPr>
          <p:cNvPr id="17" name="Text 12"/>
          <p:cNvSpPr txBox="1"/>
          <p:nvPr/>
        </p:nvSpPr>
        <p:spPr>
          <a:xfrm>
            <a:off x="1463040" y="4197096"/>
            <a:ext cx="3840480" cy="274320"/>
          </a:xfrm>
          <a:prstGeom prst="rect">
            <a:avLst/>
          </a:prstGeom>
          <a:noFill/>
          <a:ln/>
        </p:spPr>
        <p:txBody>
          <a:bodyPr wrap="square" lIns="0" tIns="0" rIns="0" bIns="0" rtlCol="0" anchor="t"/>
          <a:lstStyle/>
          <a:p>
            <a:pPr indent="0" marL="0">
              <a:buNone/>
            </a:pPr>
            <a:r>
              <a:rPr lang="en-US" sz="1200" dirty="0">
                <a:solidFill>
                  <a:schemeClr val="tx2"/>
                </a:solidFill>
              </a:rPr>
              <a:t>SQLCipher · key kept in the OS keystore</a:t>
            </a:r>
            <a:endParaRPr lang="en-US" sz="1200" dirty="0"/>
          </a:p>
        </p:txBody>
      </p:sp>
      <p:sp>
        <p:nvSpPr>
          <p:cNvPr id="18" name="Shape 13"/>
          <p:cNvSpPr/>
          <p:nvPr/>
        </p:nvSpPr>
        <p:spPr>
          <a:xfrm>
            <a:off x="777240" y="4709160"/>
            <a:ext cx="1508760" cy="438912"/>
          </a:xfrm>
          <a:prstGeom prst="roundRect">
            <a:avLst>
              <a:gd name="adj" fmla="val 50000"/>
            </a:avLst>
          </a:prstGeom>
          <a:solidFill>
            <a:schemeClr val="accent3">
              <a:alpha val="20000"/>
            </a:schemeClr>
          </a:solidFill>
          <a:ln/>
        </p:spPr>
      </p:sp>
      <p:sp>
        <p:nvSpPr>
          <p:cNvPr id="19" name="Text 14"/>
          <p:cNvSpPr txBox="1"/>
          <p:nvPr/>
        </p:nvSpPr>
        <p:spPr>
          <a:xfrm>
            <a:off x="777240" y="4709160"/>
            <a:ext cx="1508760" cy="438912"/>
          </a:xfrm>
          <a:prstGeom prst="rect">
            <a:avLst/>
          </a:prstGeom>
          <a:noFill/>
          <a:ln/>
        </p:spPr>
        <p:txBody>
          <a:bodyPr wrap="square" lIns="0" tIns="0" rIns="0" bIns="0" rtlCol="0" anchor="ctr"/>
          <a:lstStyle/>
          <a:p>
            <a:pPr algn="ctr" indent="0" marL="0">
              <a:buNone/>
            </a:pPr>
            <a:r>
              <a:rPr lang="en-US" sz="1100" b="1" dirty="0">
                <a:solidFill>
                  <a:schemeClr val="accent3"/>
                </a:solidFill>
              </a:rPr>
              <a:t>Capy assistant (offline)</a:t>
            </a:r>
            <a:endParaRPr lang="en-US" sz="1100" dirty="0"/>
          </a:p>
        </p:txBody>
      </p:sp>
      <p:sp>
        <p:nvSpPr>
          <p:cNvPr id="20" name="Shape 15"/>
          <p:cNvSpPr/>
          <p:nvPr/>
        </p:nvSpPr>
        <p:spPr>
          <a:xfrm>
            <a:off x="2377440" y="4709160"/>
            <a:ext cx="1508760" cy="438912"/>
          </a:xfrm>
          <a:prstGeom prst="roundRect">
            <a:avLst>
              <a:gd name="adj" fmla="val 50000"/>
            </a:avLst>
          </a:prstGeom>
          <a:solidFill>
            <a:schemeClr val="accent3">
              <a:alpha val="20000"/>
            </a:schemeClr>
          </a:solidFill>
          <a:ln/>
        </p:spPr>
      </p:sp>
      <p:sp>
        <p:nvSpPr>
          <p:cNvPr id="21" name="Text 16"/>
          <p:cNvSpPr txBox="1"/>
          <p:nvPr/>
        </p:nvSpPr>
        <p:spPr>
          <a:xfrm>
            <a:off x="2377440" y="4709160"/>
            <a:ext cx="1508760" cy="438912"/>
          </a:xfrm>
          <a:prstGeom prst="rect">
            <a:avLst/>
          </a:prstGeom>
          <a:noFill/>
          <a:ln/>
        </p:spPr>
        <p:txBody>
          <a:bodyPr wrap="square" lIns="0" tIns="0" rIns="0" bIns="0" rtlCol="0" anchor="ctr"/>
          <a:lstStyle/>
          <a:p>
            <a:pPr algn="ctr" indent="0" marL="0">
              <a:buNone/>
            </a:pPr>
            <a:r>
              <a:rPr lang="en-US" sz="1100" b="1" dirty="0">
                <a:solidFill>
                  <a:schemeClr val="accent3"/>
                </a:solidFill>
              </a:rPr>
              <a:t>Moderation layer 1</a:t>
            </a:r>
            <a:endParaRPr lang="en-US" sz="1100" dirty="0"/>
          </a:p>
        </p:txBody>
      </p:sp>
      <p:sp>
        <p:nvSpPr>
          <p:cNvPr id="22" name="Shape 17"/>
          <p:cNvSpPr/>
          <p:nvPr/>
        </p:nvSpPr>
        <p:spPr>
          <a:xfrm>
            <a:off x="3977640" y="4709160"/>
            <a:ext cx="1508760" cy="438912"/>
          </a:xfrm>
          <a:prstGeom prst="roundRect">
            <a:avLst>
              <a:gd name="adj" fmla="val 50000"/>
            </a:avLst>
          </a:prstGeom>
          <a:solidFill>
            <a:schemeClr val="accent3">
              <a:alpha val="20000"/>
            </a:schemeClr>
          </a:solidFill>
          <a:ln/>
        </p:spPr>
      </p:sp>
      <p:sp>
        <p:nvSpPr>
          <p:cNvPr id="23" name="Text 18"/>
          <p:cNvSpPr txBox="1"/>
          <p:nvPr/>
        </p:nvSpPr>
        <p:spPr>
          <a:xfrm>
            <a:off x="3977640" y="4709160"/>
            <a:ext cx="1508760" cy="438912"/>
          </a:xfrm>
          <a:prstGeom prst="rect">
            <a:avLst/>
          </a:prstGeom>
          <a:noFill/>
          <a:ln/>
        </p:spPr>
        <p:txBody>
          <a:bodyPr wrap="square" lIns="0" tIns="0" rIns="0" bIns="0" rtlCol="0" anchor="ctr"/>
          <a:lstStyle/>
          <a:p>
            <a:pPr algn="ctr" indent="0" marL="0">
              <a:buNone/>
            </a:pPr>
            <a:r>
              <a:rPr lang="en-US" sz="1100" b="1" dirty="0">
                <a:solidFill>
                  <a:schemeClr val="accent3"/>
                </a:solidFill>
              </a:rPr>
              <a:t>Demo verifier</a:t>
            </a:r>
            <a:endParaRPr lang="en-US" sz="1100" dirty="0"/>
          </a:p>
        </p:txBody>
      </p:sp>
      <p:sp>
        <p:nvSpPr>
          <p:cNvPr id="24" name="Plug-in arrow"/>
          <p:cNvSpPr/>
          <p:nvPr/>
        </p:nvSpPr>
        <p:spPr>
          <a:xfrm>
            <a:off x="5870448" y="3063240"/>
            <a:ext cx="685800" cy="502920"/>
          </a:xfrm>
          <a:prstGeom prst="rightArrow">
            <a:avLst/>
          </a:prstGeom>
          <a:solidFill>
            <a:schemeClr val="accent1"/>
          </a:solidFill>
          <a:ln/>
        </p:spPr>
      </p:sp>
      <p:sp>
        <p:nvSpPr>
          <p:cNvPr id="25" name="Text 20"/>
          <p:cNvSpPr txBox="1"/>
          <p:nvPr/>
        </p:nvSpPr>
        <p:spPr>
          <a:xfrm>
            <a:off x="5715000" y="3611880"/>
            <a:ext cx="1005840" cy="457200"/>
          </a:xfrm>
          <a:prstGeom prst="rect">
            <a:avLst/>
          </a:prstGeom>
          <a:noFill/>
          <a:ln/>
        </p:spPr>
        <p:txBody>
          <a:bodyPr wrap="square" lIns="0" tIns="0" rIns="0" bIns="0" rtlCol="0" anchor="t"/>
          <a:lstStyle/>
          <a:p>
            <a:pPr algn="ctr" indent="0" marL="0">
              <a:buNone/>
            </a:pPr>
            <a:r>
              <a:rPr lang="en-US" sz="1100" b="1" dirty="0">
                <a:solidFill>
                  <a:schemeClr val="accent1"/>
                </a:solidFill>
              </a:rPr>
              <a:t>Same interfaces</a:t>
            </a:r>
            <a:endParaRPr lang="en-US" sz="1100" dirty="0"/>
          </a:p>
        </p:txBody>
      </p:sp>
      <p:sp>
        <p:nvSpPr>
          <p:cNvPr id="26" name="Phase 2"/>
          <p:cNvSpPr/>
          <p:nvPr/>
        </p:nvSpPr>
        <p:spPr>
          <a:xfrm>
            <a:off x="6720840" y="1600200"/>
            <a:ext cx="4919472" cy="3703320"/>
          </a:xfrm>
          <a:prstGeom prst="roundRect">
            <a:avLst>
              <a:gd name="adj" fmla="val 2963"/>
            </a:avLst>
          </a:prstGeom>
          <a:solidFill>
            <a:schemeClr val="accent5">
              <a:alpha val="8000"/>
            </a:schemeClr>
          </a:solidFill>
          <a:ln w="12700">
            <a:solidFill>
              <a:srgbClr val="6D45C9"/>
            </a:solidFill>
            <a:prstDash val="dash"/>
          </a:ln>
        </p:spPr>
      </p:sp>
      <p:sp>
        <p:nvSpPr>
          <p:cNvPr id="27" name="Text 22"/>
          <p:cNvSpPr txBox="1"/>
          <p:nvPr/>
        </p:nvSpPr>
        <p:spPr>
          <a:xfrm>
            <a:off x="6949440"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PHASE 2  ·  PLUG-IN SERVICES</a:t>
            </a:r>
            <a:endParaRPr lang="en-US" sz="1200" dirty="0"/>
          </a:p>
        </p:txBody>
      </p:sp>
      <p:sp>
        <p:nvSpPr>
          <p:cNvPr id="28" name="Shape 23"/>
          <p:cNvSpPr/>
          <p:nvPr/>
        </p:nvSpPr>
        <p:spPr>
          <a:xfrm>
            <a:off x="6949440" y="2103120"/>
            <a:ext cx="2176272" cy="914400"/>
          </a:xfrm>
          <a:prstGeom prst="roundRect">
            <a:avLst>
              <a:gd name="adj" fmla="val 10000"/>
            </a:avLst>
          </a:prstGeom>
          <a:solidFill>
            <a:schemeClr val="bg1"/>
          </a:solidFill>
          <a:ln/>
          <a:effectLst>
            <a:outerShdw sx="100000" sy="100000" kx="0" ky="0" algn="bl" rotWithShape="0" blurRad="101600" dist="25400" dir="5400000">
              <a:srgbClr val="0F1B33">
                <a:alpha val="10000"/>
              </a:srgbClr>
            </a:outerShdw>
          </a:effectLst>
        </p:spPr>
      </p:sp>
      <p:pic>
        <p:nvPicPr>
          <p:cNvPr id="29" name="Image 3" descr="preencoded.png">    </p:cNvPr>
          <p:cNvPicPr>
            <a:picLocks noChangeAspect="1"/>
          </p:cNvPicPr>
          <p:nvPr/>
        </p:nvPicPr>
        <p:blipFill>
          <a:blip r:embed="rId4"/>
          <a:stretch>
            <a:fillRect/>
          </a:stretch>
        </p:blipFill>
        <p:spPr>
          <a:xfrm>
            <a:off x="7114032" y="2258568"/>
            <a:ext cx="292608" cy="292608"/>
          </a:xfrm>
          <a:prstGeom prst="rect">
            <a:avLst/>
          </a:prstGeom>
        </p:spPr>
      </p:pic>
      <p:sp>
        <p:nvSpPr>
          <p:cNvPr id="30" name="Text 24"/>
          <p:cNvSpPr txBox="1"/>
          <p:nvPr/>
        </p:nvSpPr>
        <p:spPr>
          <a:xfrm>
            <a:off x="7498080" y="2240280"/>
            <a:ext cx="1554480" cy="320040"/>
          </a:xfrm>
          <a:prstGeom prst="rect">
            <a:avLst/>
          </a:prstGeom>
          <a:noFill/>
          <a:ln/>
        </p:spPr>
        <p:txBody>
          <a:bodyPr wrap="square" lIns="0" tIns="0" rIns="0" bIns="0" rtlCol="0" anchor="t"/>
          <a:lstStyle/>
          <a:p>
            <a:pPr indent="0" marL="0">
              <a:buNone/>
            </a:pPr>
            <a:r>
              <a:rPr lang="en-US" sz="1400" b="1" dirty="0">
                <a:solidFill>
                  <a:schemeClr val="tx1"/>
                </a:solidFill>
              </a:rPr>
              <a:t>Company SSO</a:t>
            </a:r>
            <a:endParaRPr lang="en-US" sz="1400" dirty="0"/>
          </a:p>
        </p:txBody>
      </p:sp>
      <p:sp>
        <p:nvSpPr>
          <p:cNvPr id="31" name="Text 25"/>
          <p:cNvSpPr txBox="1"/>
          <p:nvPr/>
        </p:nvSpPr>
        <p:spPr>
          <a:xfrm>
            <a:off x="7114032" y="2606040"/>
            <a:ext cx="1920240" cy="365760"/>
          </a:xfrm>
          <a:prstGeom prst="rect">
            <a:avLst/>
          </a:prstGeom>
          <a:noFill/>
          <a:ln/>
        </p:spPr>
        <p:txBody>
          <a:bodyPr wrap="square" lIns="0" tIns="0" rIns="0" bIns="0" rtlCol="0" anchor="t"/>
          <a:lstStyle/>
          <a:p>
            <a:pPr indent="0" marL="0">
              <a:buNone/>
            </a:pPr>
            <a:r>
              <a:rPr lang="en-US" sz="1100" dirty="0">
                <a:solidFill>
                  <a:schemeClr val="tx2"/>
                </a:solidFill>
              </a:rPr>
              <a:t>Verify employment, store no identity</a:t>
            </a:r>
            <a:endParaRPr lang="en-US" sz="1100" dirty="0"/>
          </a:p>
        </p:txBody>
      </p:sp>
      <p:sp>
        <p:nvSpPr>
          <p:cNvPr id="32" name="Shape 26"/>
          <p:cNvSpPr/>
          <p:nvPr/>
        </p:nvSpPr>
        <p:spPr>
          <a:xfrm>
            <a:off x="9217152" y="2103120"/>
            <a:ext cx="2176272" cy="914400"/>
          </a:xfrm>
          <a:prstGeom prst="roundRect">
            <a:avLst>
              <a:gd name="adj" fmla="val 10000"/>
            </a:avLst>
          </a:prstGeom>
          <a:solidFill>
            <a:schemeClr val="bg1"/>
          </a:solidFill>
          <a:ln/>
          <a:effectLst>
            <a:outerShdw sx="100000" sy="100000" kx="0" ky="0" algn="bl" rotWithShape="0" blurRad="101600" dist="25400" dir="5400000">
              <a:srgbClr val="0F1B33">
                <a:alpha val="10000"/>
              </a:srgbClr>
            </a:outerShdw>
          </a:effectLst>
        </p:spPr>
      </p:sp>
      <p:pic>
        <p:nvPicPr>
          <p:cNvPr id="33" name="Image 4" descr="preencoded.png">    </p:cNvPr>
          <p:cNvPicPr>
            <a:picLocks noChangeAspect="1"/>
          </p:cNvPicPr>
          <p:nvPr/>
        </p:nvPicPr>
        <p:blipFill>
          <a:blip r:embed="rId5"/>
          <a:stretch>
            <a:fillRect/>
          </a:stretch>
        </p:blipFill>
        <p:spPr>
          <a:xfrm>
            <a:off x="9381744" y="2258568"/>
            <a:ext cx="292608" cy="292608"/>
          </a:xfrm>
          <a:prstGeom prst="rect">
            <a:avLst/>
          </a:prstGeom>
        </p:spPr>
      </p:pic>
      <p:sp>
        <p:nvSpPr>
          <p:cNvPr id="34" name="Text 27"/>
          <p:cNvSpPr txBox="1"/>
          <p:nvPr/>
        </p:nvSpPr>
        <p:spPr>
          <a:xfrm>
            <a:off x="9765792" y="2240280"/>
            <a:ext cx="1554480" cy="320040"/>
          </a:xfrm>
          <a:prstGeom prst="rect">
            <a:avLst/>
          </a:prstGeom>
          <a:noFill/>
          <a:ln/>
        </p:spPr>
        <p:txBody>
          <a:bodyPr wrap="square" lIns="0" tIns="0" rIns="0" bIns="0" rtlCol="0" anchor="t"/>
          <a:lstStyle/>
          <a:p>
            <a:pPr indent="0" marL="0">
              <a:buNone/>
            </a:pPr>
            <a:r>
              <a:rPr lang="en-US" sz="1400" b="1" dirty="0">
                <a:solidFill>
                  <a:schemeClr val="tx1"/>
                </a:solidFill>
              </a:rPr>
              <a:t>Shared community</a:t>
            </a:r>
            <a:endParaRPr lang="en-US" sz="1400" dirty="0"/>
          </a:p>
        </p:txBody>
      </p:sp>
      <p:sp>
        <p:nvSpPr>
          <p:cNvPr id="35" name="Text 28"/>
          <p:cNvSpPr txBox="1"/>
          <p:nvPr/>
        </p:nvSpPr>
        <p:spPr>
          <a:xfrm>
            <a:off x="9381744" y="2606040"/>
            <a:ext cx="1920240" cy="365760"/>
          </a:xfrm>
          <a:prstGeom prst="rect">
            <a:avLst/>
          </a:prstGeom>
          <a:noFill/>
          <a:ln/>
        </p:spPr>
        <p:txBody>
          <a:bodyPr wrap="square" lIns="0" tIns="0" rIns="0" bIns="0" rtlCol="0" anchor="t"/>
          <a:lstStyle/>
          <a:p>
            <a:pPr indent="0" marL="0">
              <a:buNone/>
            </a:pPr>
            <a:r>
              <a:rPr lang="en-US" sz="1100" dirty="0">
                <a:solidFill>
                  <a:schemeClr val="tx2"/>
                </a:solidFill>
              </a:rPr>
              <a:t>Votes, answers, official replies</a:t>
            </a:r>
            <a:endParaRPr lang="en-US" sz="1100" dirty="0"/>
          </a:p>
        </p:txBody>
      </p:sp>
      <p:sp>
        <p:nvSpPr>
          <p:cNvPr id="36" name="Shape 29"/>
          <p:cNvSpPr/>
          <p:nvPr/>
        </p:nvSpPr>
        <p:spPr>
          <a:xfrm>
            <a:off x="6949440" y="3127248"/>
            <a:ext cx="2176272" cy="914400"/>
          </a:xfrm>
          <a:prstGeom prst="roundRect">
            <a:avLst>
              <a:gd name="adj" fmla="val 10000"/>
            </a:avLst>
          </a:prstGeom>
          <a:solidFill>
            <a:schemeClr val="bg1"/>
          </a:solidFill>
          <a:ln/>
          <a:effectLst>
            <a:outerShdw sx="100000" sy="100000" kx="0" ky="0" algn="bl" rotWithShape="0" blurRad="101600" dist="25400" dir="5400000">
              <a:srgbClr val="0F1B33">
                <a:alpha val="10000"/>
              </a:srgbClr>
            </a:outerShdw>
          </a:effectLst>
        </p:spPr>
      </p:sp>
      <p:pic>
        <p:nvPicPr>
          <p:cNvPr id="37" name="Image 5" descr="preencoded.png">    </p:cNvPr>
          <p:cNvPicPr>
            <a:picLocks noChangeAspect="1"/>
          </p:cNvPicPr>
          <p:nvPr/>
        </p:nvPicPr>
        <p:blipFill>
          <a:blip r:embed="rId6"/>
          <a:stretch>
            <a:fillRect/>
          </a:stretch>
        </p:blipFill>
        <p:spPr>
          <a:xfrm>
            <a:off x="7114032" y="3282696"/>
            <a:ext cx="292608" cy="292608"/>
          </a:xfrm>
          <a:prstGeom prst="rect">
            <a:avLst/>
          </a:prstGeom>
        </p:spPr>
      </p:pic>
      <p:sp>
        <p:nvSpPr>
          <p:cNvPr id="38" name="Text 30"/>
          <p:cNvSpPr txBox="1"/>
          <p:nvPr/>
        </p:nvSpPr>
        <p:spPr>
          <a:xfrm>
            <a:off x="7498080" y="3264408"/>
            <a:ext cx="1554480" cy="320040"/>
          </a:xfrm>
          <a:prstGeom prst="rect">
            <a:avLst/>
          </a:prstGeom>
          <a:noFill/>
          <a:ln/>
        </p:spPr>
        <p:txBody>
          <a:bodyPr wrap="square" lIns="0" tIns="0" rIns="0" bIns="0" rtlCol="0" anchor="t"/>
          <a:lstStyle/>
          <a:p>
            <a:pPr indent="0" marL="0">
              <a:buNone/>
            </a:pPr>
            <a:r>
              <a:rPr lang="en-US" sz="1400" b="1" dirty="0">
                <a:solidFill>
                  <a:schemeClr val="tx1"/>
                </a:solidFill>
              </a:rPr>
              <a:t>AI moderation</a:t>
            </a:r>
            <a:endParaRPr lang="en-US" sz="1400" dirty="0"/>
          </a:p>
        </p:txBody>
      </p:sp>
      <p:sp>
        <p:nvSpPr>
          <p:cNvPr id="39" name="Text 31"/>
          <p:cNvSpPr txBox="1"/>
          <p:nvPr/>
        </p:nvSpPr>
        <p:spPr>
          <a:xfrm>
            <a:off x="7114032" y="3630168"/>
            <a:ext cx="1920240" cy="365760"/>
          </a:xfrm>
          <a:prstGeom prst="rect">
            <a:avLst/>
          </a:prstGeom>
          <a:noFill/>
          <a:ln/>
        </p:spPr>
        <p:txBody>
          <a:bodyPr wrap="square" lIns="0" tIns="0" rIns="0" bIns="0" rtlCol="0" anchor="t"/>
          <a:lstStyle/>
          <a:p>
            <a:pPr indent="0" marL="0">
              <a:buNone/>
            </a:pPr>
            <a:r>
              <a:rPr lang="en-US" sz="1100" dirty="0">
                <a:solidFill>
                  <a:schemeClr val="tx2"/>
                </a:solidFill>
              </a:rPr>
              <a:t>Plus human review and appeals</a:t>
            </a:r>
            <a:endParaRPr lang="en-US" sz="1100" dirty="0"/>
          </a:p>
        </p:txBody>
      </p:sp>
      <p:sp>
        <p:nvSpPr>
          <p:cNvPr id="40" name="Shape 32"/>
          <p:cNvSpPr/>
          <p:nvPr/>
        </p:nvSpPr>
        <p:spPr>
          <a:xfrm>
            <a:off x="9217152" y="3127248"/>
            <a:ext cx="2176272" cy="914400"/>
          </a:xfrm>
          <a:prstGeom prst="roundRect">
            <a:avLst>
              <a:gd name="adj" fmla="val 10000"/>
            </a:avLst>
          </a:prstGeom>
          <a:solidFill>
            <a:schemeClr val="bg1"/>
          </a:solidFill>
          <a:ln/>
          <a:effectLst>
            <a:outerShdw sx="100000" sy="100000" kx="0" ky="0" algn="bl" rotWithShape="0" blurRad="101600" dist="25400" dir="5400000">
              <a:srgbClr val="0F1B33">
                <a:alpha val="10000"/>
              </a:srgbClr>
            </a:outerShdw>
          </a:effectLst>
        </p:spPr>
      </p:sp>
      <p:pic>
        <p:nvPicPr>
          <p:cNvPr id="41" name="Image 6" descr="preencoded.png">    </p:cNvPr>
          <p:cNvPicPr>
            <a:picLocks noChangeAspect="1"/>
          </p:cNvPicPr>
          <p:nvPr/>
        </p:nvPicPr>
        <p:blipFill>
          <a:blip r:embed="rId7"/>
          <a:stretch>
            <a:fillRect/>
          </a:stretch>
        </p:blipFill>
        <p:spPr>
          <a:xfrm>
            <a:off x="9381744" y="3282696"/>
            <a:ext cx="292608" cy="292608"/>
          </a:xfrm>
          <a:prstGeom prst="rect">
            <a:avLst/>
          </a:prstGeom>
        </p:spPr>
      </p:pic>
      <p:sp>
        <p:nvSpPr>
          <p:cNvPr id="42" name="Text 33"/>
          <p:cNvSpPr txBox="1"/>
          <p:nvPr/>
        </p:nvSpPr>
        <p:spPr>
          <a:xfrm>
            <a:off x="9765792" y="3264408"/>
            <a:ext cx="1554480" cy="320040"/>
          </a:xfrm>
          <a:prstGeom prst="rect">
            <a:avLst/>
          </a:prstGeom>
          <a:noFill/>
          <a:ln/>
        </p:spPr>
        <p:txBody>
          <a:bodyPr wrap="square" lIns="0" tIns="0" rIns="0" bIns="0" rtlCol="0" anchor="t"/>
          <a:lstStyle/>
          <a:p>
            <a:pPr indent="0" marL="0">
              <a:buNone/>
            </a:pPr>
            <a:r>
              <a:rPr lang="en-US" sz="1400" b="1" dirty="0">
                <a:solidFill>
                  <a:schemeClr val="tx1"/>
                </a:solidFill>
              </a:rPr>
              <a:t>AI assistant</a:t>
            </a:r>
            <a:endParaRPr lang="en-US" sz="1400" dirty="0"/>
          </a:p>
        </p:txBody>
      </p:sp>
      <p:sp>
        <p:nvSpPr>
          <p:cNvPr id="43" name="Text 34"/>
          <p:cNvSpPr txBox="1"/>
          <p:nvPr/>
        </p:nvSpPr>
        <p:spPr>
          <a:xfrm>
            <a:off x="9381744" y="3630168"/>
            <a:ext cx="1920240" cy="365760"/>
          </a:xfrm>
          <a:prstGeom prst="rect">
            <a:avLst/>
          </a:prstGeom>
          <a:noFill/>
          <a:ln/>
        </p:spPr>
        <p:txBody>
          <a:bodyPr wrap="square" lIns="0" tIns="0" rIns="0" bIns="0" rtlCol="0" anchor="t"/>
          <a:lstStyle/>
          <a:p>
            <a:pPr indent="0" marL="0">
              <a:buNone/>
            </a:pPr>
            <a:r>
              <a:rPr lang="en-US" sz="1100" dirty="0">
                <a:solidFill>
                  <a:schemeClr val="tx2"/>
                </a:solidFill>
              </a:rPr>
              <a:t>On approved HR and IT content</a:t>
            </a:r>
            <a:endParaRPr lang="en-US" sz="1100" dirty="0"/>
          </a:p>
        </p:txBody>
      </p:sp>
      <p:sp>
        <p:nvSpPr>
          <p:cNvPr id="44" name="Shape 35"/>
          <p:cNvSpPr/>
          <p:nvPr/>
        </p:nvSpPr>
        <p:spPr>
          <a:xfrm>
            <a:off x="6949440" y="4206240"/>
            <a:ext cx="4443984" cy="914400"/>
          </a:xfrm>
          <a:prstGeom prst="roundRect">
            <a:avLst>
              <a:gd name="adj" fmla="val 10000"/>
            </a:avLst>
          </a:prstGeom>
          <a:solidFill>
            <a:schemeClr val="bg1"/>
          </a:solidFill>
          <a:ln/>
          <a:effectLst>
            <a:outerShdw sx="100000" sy="100000" kx="0" ky="0" algn="bl" rotWithShape="0" blurRad="101600" dist="25400" dir="5400000">
              <a:srgbClr val="0F1B33">
                <a:alpha val="10000"/>
              </a:srgbClr>
            </a:outerShdw>
          </a:effectLst>
        </p:spPr>
      </p:sp>
      <p:pic>
        <p:nvPicPr>
          <p:cNvPr id="45" name="Image 7" descr="preencoded.png">    </p:cNvPr>
          <p:cNvPicPr>
            <a:picLocks noChangeAspect="1"/>
          </p:cNvPicPr>
          <p:nvPr/>
        </p:nvPicPr>
        <p:blipFill>
          <a:blip r:embed="rId8"/>
          <a:stretch>
            <a:fillRect/>
          </a:stretch>
        </p:blipFill>
        <p:spPr>
          <a:xfrm>
            <a:off x="7114032" y="4361688"/>
            <a:ext cx="292608" cy="292608"/>
          </a:xfrm>
          <a:prstGeom prst="rect">
            <a:avLst/>
          </a:prstGeom>
        </p:spPr>
      </p:pic>
      <p:sp>
        <p:nvSpPr>
          <p:cNvPr id="46" name="Text 36"/>
          <p:cNvSpPr txBox="1"/>
          <p:nvPr/>
        </p:nvSpPr>
        <p:spPr>
          <a:xfrm>
            <a:off x="7498080" y="4343400"/>
            <a:ext cx="3749040" cy="320040"/>
          </a:xfrm>
          <a:prstGeom prst="rect">
            <a:avLst/>
          </a:prstGeom>
          <a:noFill/>
          <a:ln/>
        </p:spPr>
        <p:txBody>
          <a:bodyPr wrap="square" lIns="0" tIns="0" rIns="0" bIns="0" rtlCol="0" anchor="t"/>
          <a:lstStyle/>
          <a:p>
            <a:pPr indent="0" marL="0">
              <a:buNone/>
            </a:pPr>
            <a:r>
              <a:rPr lang="en-US" sz="1400" b="1" dirty="0">
                <a:solidFill>
                  <a:schemeClr val="tx1"/>
                </a:solidFill>
              </a:rPr>
              <a:t>Aggregate insights for HR</a:t>
            </a:r>
            <a:endParaRPr lang="en-US" sz="1400" dirty="0"/>
          </a:p>
        </p:txBody>
      </p:sp>
      <p:sp>
        <p:nvSpPr>
          <p:cNvPr id="47" name="Text 37"/>
          <p:cNvSpPr txBox="1"/>
          <p:nvPr/>
        </p:nvSpPr>
        <p:spPr>
          <a:xfrm>
            <a:off x="7114032" y="4709160"/>
            <a:ext cx="4114800" cy="320040"/>
          </a:xfrm>
          <a:prstGeom prst="rect">
            <a:avLst/>
          </a:prstGeom>
          <a:noFill/>
          <a:ln/>
        </p:spPr>
        <p:txBody>
          <a:bodyPr wrap="square" lIns="0" tIns="0" rIns="0" bIns="0" rtlCol="0" anchor="t"/>
          <a:lstStyle/>
          <a:p>
            <a:pPr indent="0" marL="0">
              <a:buNone/>
            </a:pPr>
            <a:r>
              <a:rPr lang="en-US" sz="1100" dirty="0">
                <a:solidFill>
                  <a:schemeClr val="tx2"/>
                </a:solidFill>
              </a:rPr>
              <a:t>Only for groups of 10+ people, after works-council approval</a:t>
            </a:r>
            <a:endParaRPr lang="en-US" sz="1100" dirty="0"/>
          </a:p>
        </p:txBody>
      </p:sp>
      <p:sp>
        <p:nvSpPr>
          <p:cNvPr id="48" name="Text 38"/>
          <p:cNvSpPr txBox="1"/>
          <p:nvPr/>
        </p:nvSpPr>
        <p:spPr>
          <a:xfrm>
            <a:off x="548640" y="5486400"/>
            <a:ext cx="2697480" cy="4114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20+</a:t>
            </a:r>
            <a:endParaRPr lang="en-US" sz="2400" dirty="0"/>
          </a:p>
        </p:txBody>
      </p:sp>
      <p:sp>
        <p:nvSpPr>
          <p:cNvPr id="49" name="Text 39"/>
          <p:cNvSpPr txBox="1"/>
          <p:nvPr/>
        </p:nvSpPr>
        <p:spPr>
          <a:xfrm>
            <a:off x="548640" y="5897880"/>
            <a:ext cx="2697480" cy="274320"/>
          </a:xfrm>
          <a:prstGeom prst="rect">
            <a:avLst/>
          </a:prstGeom>
          <a:noFill/>
          <a:ln/>
        </p:spPr>
        <p:txBody>
          <a:bodyPr wrap="square" lIns="0" tIns="0" rIns="0" bIns="0" rtlCol="0" anchor="t"/>
          <a:lstStyle/>
          <a:p>
            <a:pPr indent="0" marL="0">
              <a:buNone/>
            </a:pPr>
            <a:r>
              <a:rPr lang="en-US" sz="1200" dirty="0">
                <a:solidFill>
                  <a:schemeClr val="tx2"/>
                </a:solidFill>
              </a:rPr>
              <a:t>screens built</a:t>
            </a:r>
            <a:endParaRPr lang="en-US" sz="1200" dirty="0"/>
          </a:p>
        </p:txBody>
      </p:sp>
      <p:sp>
        <p:nvSpPr>
          <p:cNvPr id="50" name="Text 40"/>
          <p:cNvSpPr txBox="1"/>
          <p:nvPr/>
        </p:nvSpPr>
        <p:spPr>
          <a:xfrm>
            <a:off x="3364992" y="5486400"/>
            <a:ext cx="2697480" cy="4114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43</a:t>
            </a:r>
            <a:endParaRPr lang="en-US" sz="2400" dirty="0"/>
          </a:p>
        </p:txBody>
      </p:sp>
      <p:sp>
        <p:nvSpPr>
          <p:cNvPr id="51" name="Text 41"/>
          <p:cNvSpPr txBox="1"/>
          <p:nvPr/>
        </p:nvSpPr>
        <p:spPr>
          <a:xfrm>
            <a:off x="3364992" y="5897880"/>
            <a:ext cx="2697480" cy="274320"/>
          </a:xfrm>
          <a:prstGeom prst="rect">
            <a:avLst/>
          </a:prstGeom>
          <a:noFill/>
          <a:ln/>
        </p:spPr>
        <p:txBody>
          <a:bodyPr wrap="square" lIns="0" tIns="0" rIns="0" bIns="0" rtlCol="0" anchor="t"/>
          <a:lstStyle/>
          <a:p>
            <a:pPr indent="0" marL="0">
              <a:buNone/>
            </a:pPr>
            <a:r>
              <a:rPr lang="en-US" sz="1200" dirty="0">
                <a:solidFill>
                  <a:schemeClr val="tx2"/>
                </a:solidFill>
              </a:rPr>
              <a:t>automated tests passing</a:t>
            </a:r>
            <a:endParaRPr lang="en-US" sz="1200" dirty="0"/>
          </a:p>
        </p:txBody>
      </p:sp>
      <p:sp>
        <p:nvSpPr>
          <p:cNvPr id="52" name="Text 42"/>
          <p:cNvSpPr txBox="1"/>
          <p:nvPr/>
        </p:nvSpPr>
        <p:spPr>
          <a:xfrm>
            <a:off x="6181344" y="5486400"/>
            <a:ext cx="2697480" cy="4114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1 codebase</a:t>
            </a:r>
            <a:endParaRPr lang="en-US" sz="2400" dirty="0"/>
          </a:p>
        </p:txBody>
      </p:sp>
      <p:sp>
        <p:nvSpPr>
          <p:cNvPr id="53" name="Text 43"/>
          <p:cNvSpPr txBox="1"/>
          <p:nvPr/>
        </p:nvSpPr>
        <p:spPr>
          <a:xfrm>
            <a:off x="6181344" y="5897880"/>
            <a:ext cx="2697480" cy="274320"/>
          </a:xfrm>
          <a:prstGeom prst="rect">
            <a:avLst/>
          </a:prstGeom>
          <a:noFill/>
          <a:ln/>
        </p:spPr>
        <p:txBody>
          <a:bodyPr wrap="square" lIns="0" tIns="0" rIns="0" bIns="0" rtlCol="0" anchor="t"/>
          <a:lstStyle/>
          <a:p>
            <a:pPr indent="0" marL="0">
              <a:buNone/>
            </a:pPr>
            <a:r>
              <a:rPr lang="en-US" sz="1200" dirty="0">
                <a:solidFill>
                  <a:schemeClr val="tx2"/>
                </a:solidFill>
              </a:rPr>
              <a:t>iOS, Android and web</a:t>
            </a:r>
            <a:endParaRPr lang="en-US" sz="1200" dirty="0"/>
          </a:p>
        </p:txBody>
      </p:sp>
      <p:sp>
        <p:nvSpPr>
          <p:cNvPr id="54" name="Text 44"/>
          <p:cNvSpPr txBox="1"/>
          <p:nvPr/>
        </p:nvSpPr>
        <p:spPr>
          <a:xfrm>
            <a:off x="8997696" y="5486400"/>
            <a:ext cx="2697480" cy="4114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0 bytes</a:t>
            </a:r>
            <a:endParaRPr lang="en-US" sz="2400" dirty="0"/>
          </a:p>
        </p:txBody>
      </p:sp>
      <p:sp>
        <p:nvSpPr>
          <p:cNvPr id="55" name="Text 45"/>
          <p:cNvSpPr txBox="1"/>
          <p:nvPr/>
        </p:nvSpPr>
        <p:spPr>
          <a:xfrm>
            <a:off x="8997696" y="5897880"/>
            <a:ext cx="2697480" cy="274320"/>
          </a:xfrm>
          <a:prstGeom prst="rect">
            <a:avLst/>
          </a:prstGeom>
          <a:noFill/>
          <a:ln/>
        </p:spPr>
        <p:txBody>
          <a:bodyPr wrap="square" lIns="0" tIns="0" rIns="0" bIns="0" rtlCol="0" anchor="t"/>
          <a:lstStyle/>
          <a:p>
            <a:pPr indent="0" marL="0">
              <a:buNone/>
            </a:pPr>
            <a:r>
              <a:rPr lang="en-US" sz="1200" dirty="0">
                <a:solidFill>
                  <a:schemeClr val="tx2"/>
                </a:solidFill>
              </a:rPr>
              <a:t>leave the device in Phase 1</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Impact for employees and for ABB</a:t>
            </a: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lIns="0" tIns="0" rIns="0" bIns="0" rtlCol="0" anchor="t"/>
          <a:lstStyle/>
          <a:p>
            <a:pPr indent="0" marL="0">
              <a:buNone/>
            </a:pPr>
            <a:r>
              <a:rPr lang="en-US" sz="1600" dirty="0">
                <a:solidFill>
                  <a:schemeClr val="tx2"/>
                </a:solidFill>
              </a:rPr>
              <a:t>What we expect to change, and how a pilot will measure it.</a:t>
            </a:r>
            <a:endParaRPr lang="en-US" sz="1600" dirty="0"/>
          </a:p>
        </p:txBody>
      </p:sp>
      <p:sp>
        <p:nvSpPr>
          <p:cNvPr id="4" name="For employees"/>
          <p:cNvSpPr/>
          <p:nvPr/>
        </p:nvSpPr>
        <p:spPr>
          <a:xfrm>
            <a:off x="548640" y="1600200"/>
            <a:ext cx="5440680" cy="2697480"/>
          </a:xfrm>
          <a:prstGeom prst="roundRect">
            <a:avLst>
              <a:gd name="adj" fmla="val 4068"/>
            </a:avLst>
          </a:prstGeom>
          <a:solidFill>
            <a:schemeClr val="bg2"/>
          </a:solidFill>
          <a:ln/>
        </p:spPr>
      </p:sp>
      <p:sp>
        <p:nvSpPr>
          <p:cNvPr id="5" name="For employees icon"/>
          <p:cNvSpPr/>
          <p:nvPr/>
        </p:nvSpPr>
        <p:spPr>
          <a:xfrm>
            <a:off x="822960" y="1810512"/>
            <a:ext cx="548640" cy="548640"/>
          </a:xfrm>
          <a:prstGeom prst="roundRect">
            <a:avLst>
              <a:gd name="adj" fmla="val 28000"/>
            </a:avLst>
          </a:prstGeom>
          <a:solidFill>
            <a:schemeClr val="accent1">
              <a:alpha val="14000"/>
            </a:schemeClr>
          </a:solidFill>
          <a:ln/>
        </p:spPr>
      </p:sp>
      <p:pic>
        <p:nvPicPr>
          <p:cNvPr id="6" name="Image 0" descr="preencoded.png">    </p:cNvPr>
          <p:cNvPicPr>
            <a:picLocks noChangeAspect="1"/>
          </p:cNvPicPr>
          <p:nvPr/>
        </p:nvPicPr>
        <p:blipFill>
          <a:blip r:embed="rId1"/>
          <a:stretch>
            <a:fillRect/>
          </a:stretch>
        </p:blipFill>
        <p:spPr>
          <a:xfrm>
            <a:off x="954634" y="1942186"/>
            <a:ext cx="285293" cy="285293"/>
          </a:xfrm>
          <a:prstGeom prst="rect">
            <a:avLst/>
          </a:prstGeom>
        </p:spPr>
      </p:pic>
      <p:sp>
        <p:nvSpPr>
          <p:cNvPr id="7" name="Text 4"/>
          <p:cNvSpPr txBox="1"/>
          <p:nvPr/>
        </p:nvSpPr>
        <p:spPr>
          <a:xfrm>
            <a:off x="1554480" y="1874520"/>
            <a:ext cx="4114800" cy="411480"/>
          </a:xfrm>
          <a:prstGeom prst="rect">
            <a:avLst/>
          </a:prstGeom>
          <a:noFill/>
          <a:ln/>
        </p:spPr>
        <p:txBody>
          <a:bodyPr wrap="square" lIns="0" tIns="0" rIns="0" bIns="0" rtlCol="0" anchor="t"/>
          <a:lstStyle/>
          <a:p>
            <a:pPr indent="0" marL="0">
              <a:buNone/>
            </a:pPr>
            <a:r>
              <a:rPr lang="en-US" sz="2000" b="1" dirty="0">
                <a:solidFill>
                  <a:schemeClr val="tx1"/>
                </a:solidFill>
              </a:rPr>
              <a:t>For employees</a:t>
            </a:r>
            <a:endParaRPr lang="en-US" sz="2000" dirty="0"/>
          </a:p>
        </p:txBody>
      </p:sp>
      <p:pic>
        <p:nvPicPr>
          <p:cNvPr id="8" name="Image 1" descr="preencoded.png">    </p:cNvPr>
          <p:cNvPicPr>
            <a:picLocks noChangeAspect="1"/>
          </p:cNvPicPr>
          <p:nvPr/>
        </p:nvPicPr>
        <p:blipFill>
          <a:blip r:embed="rId2"/>
          <a:stretch>
            <a:fillRect/>
          </a:stretch>
        </p:blipFill>
        <p:spPr>
          <a:xfrm>
            <a:off x="868680" y="2578608"/>
            <a:ext cx="201168" cy="201168"/>
          </a:xfrm>
          <a:prstGeom prst="rect">
            <a:avLst/>
          </a:prstGeom>
        </p:spPr>
      </p:pic>
      <p:sp>
        <p:nvSpPr>
          <p:cNvPr id="9" name="Text 5"/>
          <p:cNvSpPr txBox="1"/>
          <p:nvPr/>
        </p:nvSpPr>
        <p:spPr>
          <a:xfrm>
            <a:off x="1234440" y="2514600"/>
            <a:ext cx="4572000" cy="347472"/>
          </a:xfrm>
          <a:prstGeom prst="rect">
            <a:avLst/>
          </a:prstGeom>
          <a:noFill/>
          <a:ln/>
        </p:spPr>
        <p:txBody>
          <a:bodyPr wrap="square" lIns="0" tIns="0" rIns="0" bIns="0" rtlCol="0" anchor="t"/>
          <a:lstStyle/>
          <a:p>
            <a:pPr indent="0" marL="0">
              <a:buNone/>
            </a:pPr>
            <a:r>
              <a:rPr lang="en-US" sz="1500" dirty="0">
                <a:solidFill>
                  <a:schemeClr val="tx1"/>
                </a:solidFill>
              </a:rPr>
              <a:t>Answers in minutes, not ticket queues</a:t>
            </a:r>
            <a:endParaRPr lang="en-US" sz="1500" dirty="0"/>
          </a:p>
        </p:txBody>
      </p:sp>
      <p:pic>
        <p:nvPicPr>
          <p:cNvPr id="10" name="Image 2" descr="preencoded.png">    </p:cNvPr>
          <p:cNvPicPr>
            <a:picLocks noChangeAspect="1"/>
          </p:cNvPicPr>
          <p:nvPr/>
        </p:nvPicPr>
        <p:blipFill>
          <a:blip r:embed="rId3"/>
          <a:stretch>
            <a:fillRect/>
          </a:stretch>
        </p:blipFill>
        <p:spPr>
          <a:xfrm>
            <a:off x="868680" y="3008376"/>
            <a:ext cx="201168" cy="201168"/>
          </a:xfrm>
          <a:prstGeom prst="rect">
            <a:avLst/>
          </a:prstGeom>
        </p:spPr>
      </p:pic>
      <p:sp>
        <p:nvSpPr>
          <p:cNvPr id="11" name="Text 6"/>
          <p:cNvSpPr txBox="1"/>
          <p:nvPr/>
        </p:nvSpPr>
        <p:spPr>
          <a:xfrm>
            <a:off x="1234440" y="2944368"/>
            <a:ext cx="4572000" cy="347472"/>
          </a:xfrm>
          <a:prstGeom prst="rect">
            <a:avLst/>
          </a:prstGeom>
          <a:noFill/>
          <a:ln/>
        </p:spPr>
        <p:txBody>
          <a:bodyPr wrap="square" lIns="0" tIns="0" rIns="0" bIns="0" rtlCol="0" anchor="t"/>
          <a:lstStyle/>
          <a:p>
            <a:pPr indent="0" marL="0">
              <a:buNone/>
            </a:pPr>
            <a:r>
              <a:rPr lang="en-US" sz="1500" dirty="0">
                <a:solidFill>
                  <a:schemeClr val="tx1"/>
                </a:solidFill>
              </a:rPr>
              <a:t>A safe outlet that stays anonymous</a:t>
            </a:r>
            <a:endParaRPr lang="en-US" sz="1500" dirty="0"/>
          </a:p>
        </p:txBody>
      </p:sp>
      <p:pic>
        <p:nvPicPr>
          <p:cNvPr id="12" name="Image 3" descr="preencoded.png">    </p:cNvPr>
          <p:cNvPicPr>
            <a:picLocks noChangeAspect="1"/>
          </p:cNvPicPr>
          <p:nvPr/>
        </p:nvPicPr>
        <p:blipFill>
          <a:blip r:embed="rId4"/>
          <a:stretch>
            <a:fillRect/>
          </a:stretch>
        </p:blipFill>
        <p:spPr>
          <a:xfrm>
            <a:off x="868680" y="3438144"/>
            <a:ext cx="201168" cy="201168"/>
          </a:xfrm>
          <a:prstGeom prst="rect">
            <a:avLst/>
          </a:prstGeom>
        </p:spPr>
      </p:pic>
      <p:sp>
        <p:nvSpPr>
          <p:cNvPr id="13" name="Text 7"/>
          <p:cNvSpPr txBox="1"/>
          <p:nvPr/>
        </p:nvSpPr>
        <p:spPr>
          <a:xfrm>
            <a:off x="1234440" y="3374136"/>
            <a:ext cx="4572000" cy="347472"/>
          </a:xfrm>
          <a:prstGeom prst="rect">
            <a:avLst/>
          </a:prstGeom>
          <a:noFill/>
          <a:ln/>
        </p:spPr>
        <p:txBody>
          <a:bodyPr wrap="square" lIns="0" tIns="0" rIns="0" bIns="0" rtlCol="0" anchor="t"/>
          <a:lstStyle/>
          <a:p>
            <a:pPr indent="0" marL="0">
              <a:buNone/>
            </a:pPr>
            <a:r>
              <a:rPr lang="en-US" sz="1500" dirty="0">
                <a:solidFill>
                  <a:schemeClr val="tx1"/>
                </a:solidFill>
              </a:rPr>
              <a:t>Recognition for helping colleagues</a:t>
            </a:r>
            <a:endParaRPr lang="en-US" sz="1500" dirty="0"/>
          </a:p>
        </p:txBody>
      </p:sp>
      <p:pic>
        <p:nvPicPr>
          <p:cNvPr id="14" name="Image 4" descr="preencoded.png">    </p:cNvPr>
          <p:cNvPicPr>
            <a:picLocks noChangeAspect="1"/>
          </p:cNvPicPr>
          <p:nvPr/>
        </p:nvPicPr>
        <p:blipFill>
          <a:blip r:embed="rId5"/>
          <a:stretch>
            <a:fillRect/>
          </a:stretch>
        </p:blipFill>
        <p:spPr>
          <a:xfrm>
            <a:off x="868680" y="3867912"/>
            <a:ext cx="201168" cy="201168"/>
          </a:xfrm>
          <a:prstGeom prst="rect">
            <a:avLst/>
          </a:prstGeom>
        </p:spPr>
      </p:pic>
      <p:sp>
        <p:nvSpPr>
          <p:cNvPr id="15" name="Text 8"/>
          <p:cNvSpPr txBox="1"/>
          <p:nvPr/>
        </p:nvSpPr>
        <p:spPr>
          <a:xfrm>
            <a:off x="1234440" y="3803904"/>
            <a:ext cx="4572000" cy="347472"/>
          </a:xfrm>
          <a:prstGeom prst="rect">
            <a:avLst/>
          </a:prstGeom>
          <a:noFill/>
          <a:ln/>
        </p:spPr>
        <p:txBody>
          <a:bodyPr wrap="square" lIns="0" tIns="0" rIns="0" bIns="0" rtlCol="0" anchor="t"/>
          <a:lstStyle/>
          <a:p>
            <a:pPr indent="0" marL="0">
              <a:buNone/>
            </a:pPr>
            <a:r>
              <a:rPr lang="en-US" sz="1500" dirty="0">
                <a:solidFill>
                  <a:schemeClr val="tx1"/>
                </a:solidFill>
              </a:rPr>
              <a:t>A gentle route to support on hard days</a:t>
            </a:r>
            <a:endParaRPr lang="en-US" sz="1500" dirty="0"/>
          </a:p>
        </p:txBody>
      </p:sp>
      <p:sp>
        <p:nvSpPr>
          <p:cNvPr id="16" name="For ABB"/>
          <p:cNvSpPr/>
          <p:nvPr/>
        </p:nvSpPr>
        <p:spPr>
          <a:xfrm>
            <a:off x="6199632" y="1600200"/>
            <a:ext cx="5440680" cy="2697480"/>
          </a:xfrm>
          <a:prstGeom prst="roundRect">
            <a:avLst>
              <a:gd name="adj" fmla="val 4068"/>
            </a:avLst>
          </a:prstGeom>
          <a:solidFill>
            <a:schemeClr val="bg2"/>
          </a:solidFill>
          <a:ln/>
        </p:spPr>
      </p:sp>
      <p:sp>
        <p:nvSpPr>
          <p:cNvPr id="17" name="For ABB icon"/>
          <p:cNvSpPr/>
          <p:nvPr/>
        </p:nvSpPr>
        <p:spPr>
          <a:xfrm>
            <a:off x="6473952" y="1810512"/>
            <a:ext cx="548640" cy="548640"/>
          </a:xfrm>
          <a:prstGeom prst="roundRect">
            <a:avLst>
              <a:gd name="adj" fmla="val 28000"/>
            </a:avLst>
          </a:prstGeom>
          <a:solidFill>
            <a:schemeClr val="accent2">
              <a:alpha val="14000"/>
            </a:schemeClr>
          </a:solidFill>
          <a:ln/>
        </p:spPr>
      </p:sp>
      <p:pic>
        <p:nvPicPr>
          <p:cNvPr id="18" name="Image 5" descr="preencoded.png">    </p:cNvPr>
          <p:cNvPicPr>
            <a:picLocks noChangeAspect="1"/>
          </p:cNvPicPr>
          <p:nvPr/>
        </p:nvPicPr>
        <p:blipFill>
          <a:blip r:embed="rId6"/>
          <a:stretch>
            <a:fillRect/>
          </a:stretch>
        </p:blipFill>
        <p:spPr>
          <a:xfrm>
            <a:off x="6605626" y="1942186"/>
            <a:ext cx="285293" cy="285293"/>
          </a:xfrm>
          <a:prstGeom prst="rect">
            <a:avLst/>
          </a:prstGeom>
        </p:spPr>
      </p:pic>
      <p:sp>
        <p:nvSpPr>
          <p:cNvPr id="19" name="Text 11"/>
          <p:cNvSpPr txBox="1"/>
          <p:nvPr/>
        </p:nvSpPr>
        <p:spPr>
          <a:xfrm>
            <a:off x="7205472" y="1874520"/>
            <a:ext cx="4114800" cy="411480"/>
          </a:xfrm>
          <a:prstGeom prst="rect">
            <a:avLst/>
          </a:prstGeom>
          <a:noFill/>
          <a:ln/>
        </p:spPr>
        <p:txBody>
          <a:bodyPr wrap="square" lIns="0" tIns="0" rIns="0" bIns="0" rtlCol="0" anchor="t"/>
          <a:lstStyle/>
          <a:p>
            <a:pPr indent="0" marL="0">
              <a:buNone/>
            </a:pPr>
            <a:r>
              <a:rPr lang="en-US" sz="2000" b="1" dirty="0">
                <a:solidFill>
                  <a:schemeClr val="tx1"/>
                </a:solidFill>
              </a:rPr>
              <a:t>For ABB</a:t>
            </a:r>
            <a:endParaRPr lang="en-US" sz="2000" dirty="0"/>
          </a:p>
        </p:txBody>
      </p:sp>
      <p:pic>
        <p:nvPicPr>
          <p:cNvPr id="20" name="Image 6" descr="preencoded.png">    </p:cNvPr>
          <p:cNvPicPr>
            <a:picLocks noChangeAspect="1"/>
          </p:cNvPicPr>
          <p:nvPr/>
        </p:nvPicPr>
        <p:blipFill>
          <a:blip r:embed="rId7"/>
          <a:stretch>
            <a:fillRect/>
          </a:stretch>
        </p:blipFill>
        <p:spPr>
          <a:xfrm>
            <a:off x="6519672" y="2578608"/>
            <a:ext cx="201168" cy="201168"/>
          </a:xfrm>
          <a:prstGeom prst="rect">
            <a:avLst/>
          </a:prstGeom>
        </p:spPr>
      </p:pic>
      <p:sp>
        <p:nvSpPr>
          <p:cNvPr id="21" name="Text 12"/>
          <p:cNvSpPr txBox="1"/>
          <p:nvPr/>
        </p:nvSpPr>
        <p:spPr>
          <a:xfrm>
            <a:off x="6885432" y="2514600"/>
            <a:ext cx="4572000" cy="347472"/>
          </a:xfrm>
          <a:prstGeom prst="rect">
            <a:avLst/>
          </a:prstGeom>
          <a:noFill/>
          <a:ln/>
        </p:spPr>
        <p:txBody>
          <a:bodyPr wrap="square" lIns="0" tIns="0" rIns="0" bIns="0" rtlCol="0" anchor="t"/>
          <a:lstStyle/>
          <a:p>
            <a:pPr indent="0" marL="0">
              <a:buNone/>
            </a:pPr>
            <a:r>
              <a:rPr lang="en-US" sz="1500" dirty="0">
                <a:solidFill>
                  <a:schemeClr val="tx1"/>
                </a:solidFill>
              </a:rPr>
              <a:t>Fewer repetitive HR and IT tickets</a:t>
            </a:r>
            <a:endParaRPr lang="en-US" sz="1500" dirty="0"/>
          </a:p>
        </p:txBody>
      </p:sp>
      <p:pic>
        <p:nvPicPr>
          <p:cNvPr id="22" name="Image 7" descr="preencoded.png">    </p:cNvPr>
          <p:cNvPicPr>
            <a:picLocks noChangeAspect="1"/>
          </p:cNvPicPr>
          <p:nvPr/>
        </p:nvPicPr>
        <p:blipFill>
          <a:blip r:embed="rId8"/>
          <a:stretch>
            <a:fillRect/>
          </a:stretch>
        </p:blipFill>
        <p:spPr>
          <a:xfrm>
            <a:off x="6519672" y="3008376"/>
            <a:ext cx="201168" cy="201168"/>
          </a:xfrm>
          <a:prstGeom prst="rect">
            <a:avLst/>
          </a:prstGeom>
        </p:spPr>
      </p:pic>
      <p:sp>
        <p:nvSpPr>
          <p:cNvPr id="23" name="Text 13"/>
          <p:cNvSpPr txBox="1"/>
          <p:nvPr/>
        </p:nvSpPr>
        <p:spPr>
          <a:xfrm>
            <a:off x="6885432" y="2944368"/>
            <a:ext cx="4572000" cy="347472"/>
          </a:xfrm>
          <a:prstGeom prst="rect">
            <a:avLst/>
          </a:prstGeom>
          <a:noFill/>
          <a:ln/>
        </p:spPr>
        <p:txBody>
          <a:bodyPr wrap="square" lIns="0" tIns="0" rIns="0" bIns="0" rtlCol="0" anchor="t"/>
          <a:lstStyle/>
          <a:p>
            <a:pPr indent="0" marL="0">
              <a:buNone/>
            </a:pPr>
            <a:r>
              <a:rPr lang="en-US" sz="1500" dirty="0">
                <a:solidFill>
                  <a:schemeClr val="tx1"/>
                </a:solidFill>
              </a:rPr>
              <a:t>Know-how shared across sites and roles</a:t>
            </a:r>
            <a:endParaRPr lang="en-US" sz="1500" dirty="0"/>
          </a:p>
        </p:txBody>
      </p:sp>
      <p:pic>
        <p:nvPicPr>
          <p:cNvPr id="24" name="Image 8" descr="preencoded.png">    </p:cNvPr>
          <p:cNvPicPr>
            <a:picLocks noChangeAspect="1"/>
          </p:cNvPicPr>
          <p:nvPr/>
        </p:nvPicPr>
        <p:blipFill>
          <a:blip r:embed="rId9"/>
          <a:stretch>
            <a:fillRect/>
          </a:stretch>
        </p:blipFill>
        <p:spPr>
          <a:xfrm>
            <a:off x="6519672" y="3438144"/>
            <a:ext cx="201168" cy="201168"/>
          </a:xfrm>
          <a:prstGeom prst="rect">
            <a:avLst/>
          </a:prstGeom>
        </p:spPr>
      </p:pic>
      <p:sp>
        <p:nvSpPr>
          <p:cNvPr id="25" name="Text 14"/>
          <p:cNvSpPr txBox="1"/>
          <p:nvPr/>
        </p:nvSpPr>
        <p:spPr>
          <a:xfrm>
            <a:off x="6885432" y="3374136"/>
            <a:ext cx="4572000" cy="347472"/>
          </a:xfrm>
          <a:prstGeom prst="rect">
            <a:avLst/>
          </a:prstGeom>
          <a:noFill/>
          <a:ln/>
        </p:spPr>
        <p:txBody>
          <a:bodyPr wrap="square" lIns="0" tIns="0" rIns="0" bIns="0" rtlCol="0" anchor="t"/>
          <a:lstStyle/>
          <a:p>
            <a:pPr indent="0" marL="0">
              <a:buNone/>
            </a:pPr>
            <a:r>
              <a:rPr lang="en-US" sz="1500" dirty="0">
                <a:solidFill>
                  <a:schemeClr val="tx1"/>
                </a:solidFill>
              </a:rPr>
              <a:t>Anonymous, aggregate signals of hotspots</a:t>
            </a:r>
            <a:endParaRPr lang="en-US" sz="1500" dirty="0"/>
          </a:p>
        </p:txBody>
      </p:sp>
      <p:pic>
        <p:nvPicPr>
          <p:cNvPr id="26" name="Image 9" descr="preencoded.png">    </p:cNvPr>
          <p:cNvPicPr>
            <a:picLocks noChangeAspect="1"/>
          </p:cNvPicPr>
          <p:nvPr/>
        </p:nvPicPr>
        <p:blipFill>
          <a:blip r:embed="rId10"/>
          <a:stretch>
            <a:fillRect/>
          </a:stretch>
        </p:blipFill>
        <p:spPr>
          <a:xfrm>
            <a:off x="6519672" y="3867912"/>
            <a:ext cx="201168" cy="201168"/>
          </a:xfrm>
          <a:prstGeom prst="rect">
            <a:avLst/>
          </a:prstGeom>
        </p:spPr>
      </p:pic>
      <p:sp>
        <p:nvSpPr>
          <p:cNvPr id="27" name="Text 15"/>
          <p:cNvSpPr txBox="1"/>
          <p:nvPr/>
        </p:nvSpPr>
        <p:spPr>
          <a:xfrm>
            <a:off x="6885432" y="3803904"/>
            <a:ext cx="4572000" cy="347472"/>
          </a:xfrm>
          <a:prstGeom prst="rect">
            <a:avLst/>
          </a:prstGeom>
          <a:noFill/>
          <a:ln/>
        </p:spPr>
        <p:txBody>
          <a:bodyPr wrap="square" lIns="0" tIns="0" rIns="0" bIns="0" rtlCol="0" anchor="t"/>
          <a:lstStyle/>
          <a:p>
            <a:pPr indent="0" marL="0">
              <a:buNone/>
            </a:pPr>
            <a:r>
              <a:rPr lang="en-US" sz="1500" dirty="0">
                <a:solidFill>
                  <a:schemeClr val="tx1"/>
                </a:solidFill>
              </a:rPr>
              <a:t>Stronger engagement and retention</a:t>
            </a:r>
            <a:endParaRPr lang="en-US" sz="1500" dirty="0"/>
          </a:p>
        </p:txBody>
      </p:sp>
      <p:sp>
        <p:nvSpPr>
          <p:cNvPr id="28" name="Text 16"/>
          <p:cNvSpPr txBox="1"/>
          <p:nvPr/>
        </p:nvSpPr>
        <p:spPr>
          <a:xfrm>
            <a:off x="548640" y="4526280"/>
            <a:ext cx="54864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PILOT SUCCESS METRICS</a:t>
            </a:r>
            <a:endParaRPr lang="en-US" sz="1200" dirty="0"/>
          </a:p>
        </p:txBody>
      </p:sp>
      <p:sp>
        <p:nvSpPr>
          <p:cNvPr id="29" name="KPI 1"/>
          <p:cNvSpPr/>
          <p:nvPr/>
        </p:nvSpPr>
        <p:spPr>
          <a:xfrm>
            <a:off x="548640" y="4892040"/>
            <a:ext cx="2651760" cy="1280160"/>
          </a:xfrm>
          <a:prstGeom prst="roundRect">
            <a:avLst>
              <a:gd name="adj" fmla="val 8571"/>
            </a:avLst>
          </a:prstGeom>
          <a:solidFill>
            <a:schemeClr val="bg2"/>
          </a:solidFill>
          <a:ln/>
        </p:spPr>
      </p:sp>
      <p:sp>
        <p:nvSpPr>
          <p:cNvPr id="30" name="KPI icon 1"/>
          <p:cNvSpPr/>
          <p:nvPr/>
        </p:nvSpPr>
        <p:spPr>
          <a:xfrm>
            <a:off x="731520" y="5074920"/>
            <a:ext cx="457200" cy="457200"/>
          </a:xfrm>
          <a:prstGeom prst="roundRect">
            <a:avLst>
              <a:gd name="adj" fmla="val 28000"/>
            </a:avLst>
          </a:prstGeom>
          <a:solidFill>
            <a:schemeClr val="accent2">
              <a:alpha val="14000"/>
            </a:schemeClr>
          </a:solidFill>
          <a:ln/>
        </p:spPr>
      </p:sp>
      <p:pic>
        <p:nvPicPr>
          <p:cNvPr id="31" name="Image 10" descr="preencoded.png">    </p:cNvPr>
          <p:cNvPicPr>
            <a:picLocks noChangeAspect="1"/>
          </p:cNvPicPr>
          <p:nvPr/>
        </p:nvPicPr>
        <p:blipFill>
          <a:blip r:embed="rId11"/>
          <a:stretch>
            <a:fillRect/>
          </a:stretch>
        </p:blipFill>
        <p:spPr>
          <a:xfrm>
            <a:off x="841248" y="5184648"/>
            <a:ext cx="237744" cy="237744"/>
          </a:xfrm>
          <a:prstGeom prst="rect">
            <a:avLst/>
          </a:prstGeom>
        </p:spPr>
      </p:pic>
      <p:sp>
        <p:nvSpPr>
          <p:cNvPr id="32" name="Text 19"/>
          <p:cNvSpPr txBox="1"/>
          <p:nvPr/>
        </p:nvSpPr>
        <p:spPr>
          <a:xfrm>
            <a:off x="1325880" y="5074920"/>
            <a:ext cx="1783080" cy="502920"/>
          </a:xfrm>
          <a:prstGeom prst="rect">
            <a:avLst/>
          </a:prstGeom>
          <a:noFill/>
          <a:ln/>
        </p:spPr>
        <p:txBody>
          <a:bodyPr wrap="square" lIns="0" tIns="0" rIns="0" bIns="0" rtlCol="0" anchor="ctr"/>
          <a:lstStyle/>
          <a:p>
            <a:pPr indent="0" marL="0">
              <a:buNone/>
            </a:pPr>
            <a:r>
              <a:rPr lang="en-US" sz="1400" b="1" dirty="0">
                <a:solidFill>
                  <a:schemeClr val="tx1"/>
                </a:solidFill>
              </a:rPr>
              <a:t>Time to first answer</a:t>
            </a:r>
            <a:endParaRPr lang="en-US" sz="1400" dirty="0"/>
          </a:p>
        </p:txBody>
      </p:sp>
      <p:sp>
        <p:nvSpPr>
          <p:cNvPr id="33" name="Text 20"/>
          <p:cNvSpPr txBox="1"/>
          <p:nvPr/>
        </p:nvSpPr>
        <p:spPr>
          <a:xfrm>
            <a:off x="731520" y="5650992"/>
            <a:ext cx="2331720" cy="457200"/>
          </a:xfrm>
          <a:prstGeom prst="rect">
            <a:avLst/>
          </a:prstGeom>
          <a:noFill/>
          <a:ln/>
        </p:spPr>
        <p:txBody>
          <a:bodyPr wrap="square" lIns="0" tIns="0" rIns="0" bIns="0" rtlCol="0" anchor="t"/>
          <a:lstStyle/>
          <a:p>
            <a:pPr indent="0" marL="0">
              <a:buNone/>
            </a:pPr>
            <a:r>
              <a:rPr lang="en-US" sz="1200" dirty="0">
                <a:solidFill>
                  <a:schemeClr val="tx2"/>
                </a:solidFill>
              </a:rPr>
              <a:t>Median, per question</a:t>
            </a:r>
            <a:endParaRPr lang="en-US" sz="1200" dirty="0"/>
          </a:p>
        </p:txBody>
      </p:sp>
      <p:sp>
        <p:nvSpPr>
          <p:cNvPr id="34" name="KPI 2"/>
          <p:cNvSpPr/>
          <p:nvPr/>
        </p:nvSpPr>
        <p:spPr>
          <a:xfrm>
            <a:off x="3364992" y="4892040"/>
            <a:ext cx="2651760" cy="1280160"/>
          </a:xfrm>
          <a:prstGeom prst="roundRect">
            <a:avLst>
              <a:gd name="adj" fmla="val 8571"/>
            </a:avLst>
          </a:prstGeom>
          <a:solidFill>
            <a:schemeClr val="bg2"/>
          </a:solidFill>
          <a:ln/>
        </p:spPr>
      </p:sp>
      <p:sp>
        <p:nvSpPr>
          <p:cNvPr id="35" name="KPI icon 2"/>
          <p:cNvSpPr/>
          <p:nvPr/>
        </p:nvSpPr>
        <p:spPr>
          <a:xfrm>
            <a:off x="3547872" y="5074920"/>
            <a:ext cx="457200" cy="457200"/>
          </a:xfrm>
          <a:prstGeom prst="roundRect">
            <a:avLst>
              <a:gd name="adj" fmla="val 28000"/>
            </a:avLst>
          </a:prstGeom>
          <a:solidFill>
            <a:schemeClr val="accent3">
              <a:alpha val="14000"/>
            </a:schemeClr>
          </a:solidFill>
          <a:ln/>
        </p:spPr>
      </p:sp>
      <p:pic>
        <p:nvPicPr>
          <p:cNvPr id="36" name="Image 11" descr="preencoded.png">    </p:cNvPr>
          <p:cNvPicPr>
            <a:picLocks noChangeAspect="1"/>
          </p:cNvPicPr>
          <p:nvPr/>
        </p:nvPicPr>
        <p:blipFill>
          <a:blip r:embed="rId12"/>
          <a:stretch>
            <a:fillRect/>
          </a:stretch>
        </p:blipFill>
        <p:spPr>
          <a:xfrm>
            <a:off x="3657600" y="5184648"/>
            <a:ext cx="237744" cy="237744"/>
          </a:xfrm>
          <a:prstGeom prst="rect">
            <a:avLst/>
          </a:prstGeom>
        </p:spPr>
      </p:pic>
      <p:sp>
        <p:nvSpPr>
          <p:cNvPr id="37" name="Text 23"/>
          <p:cNvSpPr txBox="1"/>
          <p:nvPr/>
        </p:nvSpPr>
        <p:spPr>
          <a:xfrm>
            <a:off x="4142232" y="5074920"/>
            <a:ext cx="1783080" cy="502920"/>
          </a:xfrm>
          <a:prstGeom prst="rect">
            <a:avLst/>
          </a:prstGeom>
          <a:noFill/>
          <a:ln/>
        </p:spPr>
        <p:txBody>
          <a:bodyPr wrap="square" lIns="0" tIns="0" rIns="0" bIns="0" rtlCol="0" anchor="ctr"/>
          <a:lstStyle/>
          <a:p>
            <a:pPr indent="0" marL="0">
              <a:buNone/>
            </a:pPr>
            <a:r>
              <a:rPr lang="en-US" sz="1400" b="1" dirty="0">
                <a:solidFill>
                  <a:schemeClr val="tx1"/>
                </a:solidFill>
              </a:rPr>
              <a:t>Questions resolved</a:t>
            </a:r>
            <a:endParaRPr lang="en-US" sz="1400" dirty="0"/>
          </a:p>
        </p:txBody>
      </p:sp>
      <p:sp>
        <p:nvSpPr>
          <p:cNvPr id="38" name="Text 24"/>
          <p:cNvSpPr txBox="1"/>
          <p:nvPr/>
        </p:nvSpPr>
        <p:spPr>
          <a:xfrm>
            <a:off x="3547872" y="5650992"/>
            <a:ext cx="2331720" cy="457200"/>
          </a:xfrm>
          <a:prstGeom prst="rect">
            <a:avLst/>
          </a:prstGeom>
          <a:noFill/>
          <a:ln/>
        </p:spPr>
        <p:txBody>
          <a:bodyPr wrap="square" lIns="0" tIns="0" rIns="0" bIns="0" rtlCol="0" anchor="t"/>
          <a:lstStyle/>
          <a:p>
            <a:pPr indent="0" marL="0">
              <a:buNone/>
            </a:pPr>
            <a:r>
              <a:rPr lang="en-US" sz="1200" dirty="0">
                <a:solidFill>
                  <a:schemeClr val="tx2"/>
                </a:solidFill>
              </a:rPr>
              <a:t>Share with an accepted or official answer</a:t>
            </a:r>
            <a:endParaRPr lang="en-US" sz="1200" dirty="0"/>
          </a:p>
        </p:txBody>
      </p:sp>
      <p:sp>
        <p:nvSpPr>
          <p:cNvPr id="39" name="KPI 3"/>
          <p:cNvSpPr/>
          <p:nvPr/>
        </p:nvSpPr>
        <p:spPr>
          <a:xfrm>
            <a:off x="6181344" y="4892040"/>
            <a:ext cx="2651760" cy="1280160"/>
          </a:xfrm>
          <a:prstGeom prst="roundRect">
            <a:avLst>
              <a:gd name="adj" fmla="val 8571"/>
            </a:avLst>
          </a:prstGeom>
          <a:solidFill>
            <a:schemeClr val="bg2"/>
          </a:solidFill>
          <a:ln/>
        </p:spPr>
      </p:sp>
      <p:sp>
        <p:nvSpPr>
          <p:cNvPr id="40" name="KPI icon 3"/>
          <p:cNvSpPr/>
          <p:nvPr/>
        </p:nvSpPr>
        <p:spPr>
          <a:xfrm>
            <a:off x="6364224" y="5074920"/>
            <a:ext cx="457200" cy="457200"/>
          </a:xfrm>
          <a:prstGeom prst="roundRect">
            <a:avLst>
              <a:gd name="adj" fmla="val 28000"/>
            </a:avLst>
          </a:prstGeom>
          <a:solidFill>
            <a:schemeClr val="accent4">
              <a:alpha val="14000"/>
            </a:schemeClr>
          </a:solidFill>
          <a:ln/>
        </p:spPr>
      </p:sp>
      <p:pic>
        <p:nvPicPr>
          <p:cNvPr id="41" name="Image 12" descr="preencoded.png">    </p:cNvPr>
          <p:cNvPicPr>
            <a:picLocks noChangeAspect="1"/>
          </p:cNvPicPr>
          <p:nvPr/>
        </p:nvPicPr>
        <p:blipFill>
          <a:blip r:embed="rId13"/>
          <a:stretch>
            <a:fillRect/>
          </a:stretch>
        </p:blipFill>
        <p:spPr>
          <a:xfrm>
            <a:off x="6473952" y="5184648"/>
            <a:ext cx="237744" cy="237744"/>
          </a:xfrm>
          <a:prstGeom prst="rect">
            <a:avLst/>
          </a:prstGeom>
        </p:spPr>
      </p:pic>
      <p:sp>
        <p:nvSpPr>
          <p:cNvPr id="42" name="Text 27"/>
          <p:cNvSpPr txBox="1"/>
          <p:nvPr/>
        </p:nvSpPr>
        <p:spPr>
          <a:xfrm>
            <a:off x="6958584" y="5074920"/>
            <a:ext cx="1783080" cy="502920"/>
          </a:xfrm>
          <a:prstGeom prst="rect">
            <a:avLst/>
          </a:prstGeom>
          <a:noFill/>
          <a:ln/>
        </p:spPr>
        <p:txBody>
          <a:bodyPr wrap="square" lIns="0" tIns="0" rIns="0" bIns="0" rtlCol="0" anchor="ctr"/>
          <a:lstStyle/>
          <a:p>
            <a:pPr indent="0" marL="0">
              <a:buNone/>
            </a:pPr>
            <a:r>
              <a:rPr lang="en-US" sz="1400" b="1" dirty="0">
                <a:solidFill>
                  <a:schemeClr val="tx1"/>
                </a:solidFill>
              </a:rPr>
              <a:t>Tickets avoided</a:t>
            </a:r>
            <a:endParaRPr lang="en-US" sz="1400" dirty="0"/>
          </a:p>
        </p:txBody>
      </p:sp>
      <p:sp>
        <p:nvSpPr>
          <p:cNvPr id="43" name="Text 28"/>
          <p:cNvSpPr txBox="1"/>
          <p:nvPr/>
        </p:nvSpPr>
        <p:spPr>
          <a:xfrm>
            <a:off x="6364224" y="5650992"/>
            <a:ext cx="2331720" cy="457200"/>
          </a:xfrm>
          <a:prstGeom prst="rect">
            <a:avLst/>
          </a:prstGeom>
          <a:noFill/>
          <a:ln/>
        </p:spPr>
        <p:txBody>
          <a:bodyPr wrap="square" lIns="0" tIns="0" rIns="0" bIns="0" rtlCol="0" anchor="t"/>
          <a:lstStyle/>
          <a:p>
            <a:pPr indent="0" marL="0">
              <a:buNone/>
            </a:pPr>
            <a:r>
              <a:rPr lang="en-US" sz="1200" dirty="0">
                <a:solidFill>
                  <a:schemeClr val="tx2"/>
                </a:solidFill>
              </a:rPr>
              <a:t>Repeat HR/IT tickets vs. baseline</a:t>
            </a:r>
            <a:endParaRPr lang="en-US" sz="1200" dirty="0"/>
          </a:p>
        </p:txBody>
      </p:sp>
      <p:sp>
        <p:nvSpPr>
          <p:cNvPr id="44" name="KPI 4"/>
          <p:cNvSpPr/>
          <p:nvPr/>
        </p:nvSpPr>
        <p:spPr>
          <a:xfrm>
            <a:off x="8997696" y="4892040"/>
            <a:ext cx="2651760" cy="1280160"/>
          </a:xfrm>
          <a:prstGeom prst="roundRect">
            <a:avLst>
              <a:gd name="adj" fmla="val 8571"/>
            </a:avLst>
          </a:prstGeom>
          <a:solidFill>
            <a:schemeClr val="bg2"/>
          </a:solidFill>
          <a:ln/>
        </p:spPr>
      </p:sp>
      <p:sp>
        <p:nvSpPr>
          <p:cNvPr id="45" name="KPI icon 4"/>
          <p:cNvSpPr/>
          <p:nvPr/>
        </p:nvSpPr>
        <p:spPr>
          <a:xfrm>
            <a:off x="9180576" y="5074920"/>
            <a:ext cx="457200" cy="457200"/>
          </a:xfrm>
          <a:prstGeom prst="roundRect">
            <a:avLst>
              <a:gd name="adj" fmla="val 28000"/>
            </a:avLst>
          </a:prstGeom>
          <a:solidFill>
            <a:schemeClr val="accent5">
              <a:alpha val="14000"/>
            </a:schemeClr>
          </a:solidFill>
          <a:ln/>
        </p:spPr>
      </p:sp>
      <p:pic>
        <p:nvPicPr>
          <p:cNvPr id="46" name="Image 13" descr="preencoded.png">    </p:cNvPr>
          <p:cNvPicPr>
            <a:picLocks noChangeAspect="1"/>
          </p:cNvPicPr>
          <p:nvPr/>
        </p:nvPicPr>
        <p:blipFill>
          <a:blip r:embed="rId14"/>
          <a:stretch>
            <a:fillRect/>
          </a:stretch>
        </p:blipFill>
        <p:spPr>
          <a:xfrm>
            <a:off x="9290304" y="5184648"/>
            <a:ext cx="237744" cy="237744"/>
          </a:xfrm>
          <a:prstGeom prst="rect">
            <a:avLst/>
          </a:prstGeom>
        </p:spPr>
      </p:pic>
      <p:sp>
        <p:nvSpPr>
          <p:cNvPr id="47" name="Text 31"/>
          <p:cNvSpPr txBox="1"/>
          <p:nvPr/>
        </p:nvSpPr>
        <p:spPr>
          <a:xfrm>
            <a:off x="9774936" y="5074920"/>
            <a:ext cx="1783080" cy="502920"/>
          </a:xfrm>
          <a:prstGeom prst="rect">
            <a:avLst/>
          </a:prstGeom>
          <a:noFill/>
          <a:ln/>
        </p:spPr>
        <p:txBody>
          <a:bodyPr wrap="square" lIns="0" tIns="0" rIns="0" bIns="0" rtlCol="0" anchor="ctr"/>
          <a:lstStyle/>
          <a:p>
            <a:pPr indent="0" marL="0">
              <a:buNone/>
            </a:pPr>
            <a:r>
              <a:rPr lang="en-US" sz="1400" b="1" dirty="0">
                <a:solidFill>
                  <a:schemeClr val="tx1"/>
                </a:solidFill>
              </a:rPr>
              <a:t>Weekly active users</a:t>
            </a:r>
            <a:endParaRPr lang="en-US" sz="1400" dirty="0"/>
          </a:p>
        </p:txBody>
      </p:sp>
      <p:sp>
        <p:nvSpPr>
          <p:cNvPr id="48" name="Text 32"/>
          <p:cNvSpPr txBox="1"/>
          <p:nvPr/>
        </p:nvSpPr>
        <p:spPr>
          <a:xfrm>
            <a:off x="9180576" y="5650992"/>
            <a:ext cx="2331720" cy="457200"/>
          </a:xfrm>
          <a:prstGeom prst="rect">
            <a:avLst/>
          </a:prstGeom>
          <a:noFill/>
          <a:ln/>
        </p:spPr>
        <p:txBody>
          <a:bodyPr wrap="square" lIns="0" tIns="0" rIns="0" bIns="0" rtlCol="0" anchor="t"/>
          <a:lstStyle/>
          <a:p>
            <a:pPr indent="0" marL="0">
              <a:buNone/>
            </a:pPr>
            <a:r>
              <a:rPr lang="en-US" sz="1200" dirty="0">
                <a:solidFill>
                  <a:schemeClr val="tx2"/>
                </a:solidFill>
              </a:rPr>
              <a:t>And check-in participation</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Risks and how we mitigate them</a:t>
            </a: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lIns="0" tIns="0" rIns="0" bIns="0" rtlCol="0" anchor="t"/>
          <a:lstStyle/>
          <a:p>
            <a:pPr indent="0" marL="0">
              <a:buNone/>
            </a:pPr>
            <a:r>
              <a:rPr lang="en-US" sz="1600" dirty="0">
                <a:solidFill>
                  <a:schemeClr val="tx2"/>
                </a:solidFill>
              </a:rPr>
              <a:t>Designed in from day one, not added afterwards.</a:t>
            </a:r>
            <a:endParaRPr lang="en-US" sz="1600" dirty="0"/>
          </a:p>
        </p:txBody>
      </p:sp>
      <p:sp>
        <p:nvSpPr>
          <p:cNvPr id="4" name="Risk 1"/>
          <p:cNvSpPr/>
          <p:nvPr/>
        </p:nvSpPr>
        <p:spPr>
          <a:xfrm>
            <a:off x="548640" y="1600200"/>
            <a:ext cx="3511296" cy="2194560"/>
          </a:xfrm>
          <a:prstGeom prst="roundRect">
            <a:avLst>
              <a:gd name="adj" fmla="val 5000"/>
            </a:avLst>
          </a:prstGeom>
          <a:solidFill>
            <a:schemeClr val="bg2"/>
          </a:solidFill>
          <a:ln/>
        </p:spPr>
      </p:sp>
      <p:sp>
        <p:nvSpPr>
          <p:cNvPr id="5" name="Risk icon 1"/>
          <p:cNvSpPr/>
          <p:nvPr/>
        </p:nvSpPr>
        <p:spPr>
          <a:xfrm>
            <a:off x="822960" y="1856232"/>
            <a:ext cx="548640" cy="548640"/>
          </a:xfrm>
          <a:prstGeom prst="roundRect">
            <a:avLst>
              <a:gd name="adj" fmla="val 28000"/>
            </a:avLst>
          </a:prstGeom>
          <a:solidFill>
            <a:schemeClr val="accent1">
              <a:alpha val="14000"/>
            </a:schemeClr>
          </a:solidFill>
          <a:ln/>
        </p:spPr>
      </p:sp>
      <p:pic>
        <p:nvPicPr>
          <p:cNvPr id="6" name="Image 0" descr="preencoded.png">    </p:cNvPr>
          <p:cNvPicPr>
            <a:picLocks noChangeAspect="1"/>
          </p:cNvPicPr>
          <p:nvPr/>
        </p:nvPicPr>
        <p:blipFill>
          <a:blip r:embed="rId1"/>
          <a:stretch>
            <a:fillRect/>
          </a:stretch>
        </p:blipFill>
        <p:spPr>
          <a:xfrm>
            <a:off x="954634" y="1987906"/>
            <a:ext cx="285293" cy="285293"/>
          </a:xfrm>
          <a:prstGeom prst="rect">
            <a:avLst/>
          </a:prstGeom>
        </p:spPr>
      </p:pic>
      <p:sp>
        <p:nvSpPr>
          <p:cNvPr id="7" name="Text 4"/>
          <p:cNvSpPr txBox="1"/>
          <p:nvPr/>
        </p:nvSpPr>
        <p:spPr>
          <a:xfrm>
            <a:off x="1508760" y="1856232"/>
            <a:ext cx="2322576" cy="548640"/>
          </a:xfrm>
          <a:prstGeom prst="rect">
            <a:avLst/>
          </a:prstGeom>
          <a:noFill/>
          <a:ln/>
        </p:spPr>
        <p:txBody>
          <a:bodyPr wrap="square" lIns="0" tIns="0" rIns="0" bIns="0" rtlCol="0" anchor="ctr"/>
          <a:lstStyle/>
          <a:p>
            <a:pPr indent="0" marL="0">
              <a:buNone/>
            </a:pPr>
            <a:r>
              <a:rPr lang="en-US" sz="1700" b="1" dirty="0">
                <a:solidFill>
                  <a:schemeClr val="tx1"/>
                </a:solidFill>
              </a:rPr>
              <a:t>Fear of surveillance</a:t>
            </a:r>
            <a:endParaRPr lang="en-US" sz="1700" dirty="0"/>
          </a:p>
        </p:txBody>
      </p:sp>
      <p:sp>
        <p:nvSpPr>
          <p:cNvPr id="8" name="Text 5"/>
          <p:cNvSpPr txBox="1"/>
          <p:nvPr/>
        </p:nvSpPr>
        <p:spPr>
          <a:xfrm>
            <a:off x="822960" y="2560320"/>
            <a:ext cx="2962656" cy="1143000"/>
          </a:xfrm>
          <a:prstGeom prst="rect">
            <a:avLst/>
          </a:prstGeom>
          <a:noFill/>
          <a:ln/>
        </p:spPr>
        <p:txBody>
          <a:bodyPr wrap="square" lIns="0" tIns="0" rIns="0" bIns="0" rtlCol="0" anchor="t"/>
          <a:lstStyle/>
          <a:p>
            <a:pPr indent="0" marL="0">
              <a:buNone/>
            </a:pPr>
            <a:r>
              <a:rPr lang="en-US" sz="1400" dirty="0">
                <a:solidFill>
                  <a:schemeClr val="tx2"/>
                </a:solidFill>
              </a:rPr>
              <a:t>Local-first. Managers and HR never see mood or identity; only aggregates of 10+ people, after legal and works-council review.</a:t>
            </a:r>
            <a:endParaRPr lang="en-US" sz="1400" dirty="0"/>
          </a:p>
        </p:txBody>
      </p:sp>
      <p:sp>
        <p:nvSpPr>
          <p:cNvPr id="9" name="Risk 2"/>
          <p:cNvSpPr/>
          <p:nvPr/>
        </p:nvSpPr>
        <p:spPr>
          <a:xfrm>
            <a:off x="4338828" y="1600200"/>
            <a:ext cx="3511296" cy="2194560"/>
          </a:xfrm>
          <a:prstGeom prst="roundRect">
            <a:avLst>
              <a:gd name="adj" fmla="val 5000"/>
            </a:avLst>
          </a:prstGeom>
          <a:solidFill>
            <a:schemeClr val="bg2"/>
          </a:solidFill>
          <a:ln/>
        </p:spPr>
      </p:sp>
      <p:sp>
        <p:nvSpPr>
          <p:cNvPr id="10" name="Risk icon 2"/>
          <p:cNvSpPr/>
          <p:nvPr/>
        </p:nvSpPr>
        <p:spPr>
          <a:xfrm>
            <a:off x="4613148" y="1856232"/>
            <a:ext cx="548640" cy="548640"/>
          </a:xfrm>
          <a:prstGeom prst="roundRect">
            <a:avLst>
              <a:gd name="adj" fmla="val 28000"/>
            </a:avLst>
          </a:prstGeom>
          <a:solidFill>
            <a:schemeClr val="accent1">
              <a:alpha val="14000"/>
            </a:schemeClr>
          </a:solidFill>
          <a:ln/>
        </p:spPr>
      </p:sp>
      <p:pic>
        <p:nvPicPr>
          <p:cNvPr id="11" name="Image 1" descr="preencoded.png">    </p:cNvPr>
          <p:cNvPicPr>
            <a:picLocks noChangeAspect="1"/>
          </p:cNvPicPr>
          <p:nvPr/>
        </p:nvPicPr>
        <p:blipFill>
          <a:blip r:embed="rId2"/>
          <a:stretch>
            <a:fillRect/>
          </a:stretch>
        </p:blipFill>
        <p:spPr>
          <a:xfrm>
            <a:off x="4744822" y="1987906"/>
            <a:ext cx="285293" cy="285293"/>
          </a:xfrm>
          <a:prstGeom prst="rect">
            <a:avLst/>
          </a:prstGeom>
        </p:spPr>
      </p:pic>
      <p:sp>
        <p:nvSpPr>
          <p:cNvPr id="12" name="Text 8"/>
          <p:cNvSpPr txBox="1"/>
          <p:nvPr/>
        </p:nvSpPr>
        <p:spPr>
          <a:xfrm>
            <a:off x="5298948" y="1856232"/>
            <a:ext cx="2322576" cy="548640"/>
          </a:xfrm>
          <a:prstGeom prst="rect">
            <a:avLst/>
          </a:prstGeom>
          <a:noFill/>
          <a:ln/>
        </p:spPr>
        <p:txBody>
          <a:bodyPr wrap="square" lIns="0" tIns="0" rIns="0" bIns="0" rtlCol="0" anchor="ctr"/>
          <a:lstStyle/>
          <a:p>
            <a:pPr indent="0" marL="0">
              <a:buNone/>
            </a:pPr>
            <a:r>
              <a:rPr lang="en-US" sz="1700" b="1" dirty="0">
                <a:solidFill>
                  <a:schemeClr val="tx1"/>
                </a:solidFill>
              </a:rPr>
              <a:t>Re-identification</a:t>
            </a:r>
            <a:endParaRPr lang="en-US" sz="1700" dirty="0"/>
          </a:p>
        </p:txBody>
      </p:sp>
      <p:sp>
        <p:nvSpPr>
          <p:cNvPr id="13" name="Text 9"/>
          <p:cNvSpPr txBox="1"/>
          <p:nvPr/>
        </p:nvSpPr>
        <p:spPr>
          <a:xfrm>
            <a:off x="4613148" y="2560320"/>
            <a:ext cx="2962656" cy="1143000"/>
          </a:xfrm>
          <a:prstGeom prst="rect">
            <a:avLst/>
          </a:prstGeom>
          <a:noFill/>
          <a:ln/>
        </p:spPr>
        <p:txBody>
          <a:bodyPr wrap="square" lIns="0" tIns="0" rIns="0" bIns="0" rtlCol="0" anchor="t"/>
          <a:lstStyle/>
          <a:p>
            <a:pPr indent="0" marL="0">
              <a:buNone/>
            </a:pPr>
            <a:r>
              <a:rPr lang="en-US" sz="1400" dirty="0">
                <a:solidFill>
                  <a:schemeClr val="tx2"/>
                </a:solidFill>
              </a:rPr>
              <a:t>No names. Broad role and experience bands, shown only when the author opts in for that post.</a:t>
            </a:r>
            <a:endParaRPr lang="en-US" sz="1400" dirty="0"/>
          </a:p>
        </p:txBody>
      </p:sp>
      <p:sp>
        <p:nvSpPr>
          <p:cNvPr id="14" name="Risk 3"/>
          <p:cNvSpPr/>
          <p:nvPr/>
        </p:nvSpPr>
        <p:spPr>
          <a:xfrm>
            <a:off x="8129016" y="1600200"/>
            <a:ext cx="3511296" cy="2194560"/>
          </a:xfrm>
          <a:prstGeom prst="roundRect">
            <a:avLst>
              <a:gd name="adj" fmla="val 5000"/>
            </a:avLst>
          </a:prstGeom>
          <a:solidFill>
            <a:schemeClr val="bg2"/>
          </a:solidFill>
          <a:ln/>
        </p:spPr>
      </p:sp>
      <p:sp>
        <p:nvSpPr>
          <p:cNvPr id="15" name="Risk icon 3"/>
          <p:cNvSpPr/>
          <p:nvPr/>
        </p:nvSpPr>
        <p:spPr>
          <a:xfrm>
            <a:off x="8403336" y="1856232"/>
            <a:ext cx="548640" cy="548640"/>
          </a:xfrm>
          <a:prstGeom prst="roundRect">
            <a:avLst>
              <a:gd name="adj" fmla="val 28000"/>
            </a:avLst>
          </a:prstGeom>
          <a:solidFill>
            <a:schemeClr val="accent1">
              <a:alpha val="14000"/>
            </a:schemeClr>
          </a:solidFill>
          <a:ln/>
        </p:spPr>
      </p:sp>
      <p:pic>
        <p:nvPicPr>
          <p:cNvPr id="16" name="Image 2" descr="preencoded.png">    </p:cNvPr>
          <p:cNvPicPr>
            <a:picLocks noChangeAspect="1"/>
          </p:cNvPicPr>
          <p:nvPr/>
        </p:nvPicPr>
        <p:blipFill>
          <a:blip r:embed="rId3"/>
          <a:stretch>
            <a:fillRect/>
          </a:stretch>
        </p:blipFill>
        <p:spPr>
          <a:xfrm>
            <a:off x="8535010" y="1987906"/>
            <a:ext cx="285293" cy="285293"/>
          </a:xfrm>
          <a:prstGeom prst="rect">
            <a:avLst/>
          </a:prstGeom>
        </p:spPr>
      </p:pic>
      <p:sp>
        <p:nvSpPr>
          <p:cNvPr id="17" name="Text 12"/>
          <p:cNvSpPr txBox="1"/>
          <p:nvPr/>
        </p:nvSpPr>
        <p:spPr>
          <a:xfrm>
            <a:off x="9089136" y="1856232"/>
            <a:ext cx="2322576" cy="548640"/>
          </a:xfrm>
          <a:prstGeom prst="rect">
            <a:avLst/>
          </a:prstGeom>
          <a:noFill/>
          <a:ln/>
        </p:spPr>
        <p:txBody>
          <a:bodyPr wrap="square" lIns="0" tIns="0" rIns="0" bIns="0" rtlCol="0" anchor="ctr"/>
          <a:lstStyle/>
          <a:p>
            <a:pPr indent="0" marL="0">
              <a:buNone/>
            </a:pPr>
            <a:r>
              <a:rPr lang="en-US" sz="1700" b="1" dirty="0">
                <a:solidFill>
                  <a:schemeClr val="tx1"/>
                </a:solidFill>
              </a:rPr>
              <a:t>Harmful content</a:t>
            </a:r>
            <a:endParaRPr lang="en-US" sz="1700" dirty="0"/>
          </a:p>
        </p:txBody>
      </p:sp>
      <p:sp>
        <p:nvSpPr>
          <p:cNvPr id="18" name="Text 13"/>
          <p:cNvSpPr txBox="1"/>
          <p:nvPr/>
        </p:nvSpPr>
        <p:spPr>
          <a:xfrm>
            <a:off x="8403336" y="2560320"/>
            <a:ext cx="2962656" cy="1143000"/>
          </a:xfrm>
          <a:prstGeom prst="rect">
            <a:avLst/>
          </a:prstGeom>
          <a:noFill/>
          <a:ln/>
        </p:spPr>
        <p:txBody>
          <a:bodyPr wrap="square" lIns="0" tIns="0" rIns="0" bIns="0" rtlCol="0" anchor="t"/>
          <a:lstStyle/>
          <a:p>
            <a:pPr indent="0" marL="0">
              <a:buNone/>
            </a:pPr>
            <a:r>
              <a:rPr lang="en-US" sz="1400" dirty="0">
                <a:solidFill>
                  <a:schemeClr val="tx2"/>
                </a:solidFill>
              </a:rPr>
              <a:t>On-device check stops attacks and leaks before posting; AI screening, human moderators and appeals in Phase 2.</a:t>
            </a:r>
            <a:endParaRPr lang="en-US" sz="1400" dirty="0"/>
          </a:p>
        </p:txBody>
      </p:sp>
      <p:sp>
        <p:nvSpPr>
          <p:cNvPr id="19" name="Risk 4"/>
          <p:cNvSpPr/>
          <p:nvPr/>
        </p:nvSpPr>
        <p:spPr>
          <a:xfrm>
            <a:off x="548640" y="3995928"/>
            <a:ext cx="3511296" cy="2194560"/>
          </a:xfrm>
          <a:prstGeom prst="roundRect">
            <a:avLst>
              <a:gd name="adj" fmla="val 5000"/>
            </a:avLst>
          </a:prstGeom>
          <a:solidFill>
            <a:schemeClr val="bg2"/>
          </a:solidFill>
          <a:ln/>
        </p:spPr>
      </p:sp>
      <p:sp>
        <p:nvSpPr>
          <p:cNvPr id="20" name="Risk icon 4"/>
          <p:cNvSpPr/>
          <p:nvPr/>
        </p:nvSpPr>
        <p:spPr>
          <a:xfrm>
            <a:off x="822960" y="4251960"/>
            <a:ext cx="548640" cy="548640"/>
          </a:xfrm>
          <a:prstGeom prst="roundRect">
            <a:avLst>
              <a:gd name="adj" fmla="val 28000"/>
            </a:avLst>
          </a:prstGeom>
          <a:solidFill>
            <a:schemeClr val="accent1">
              <a:alpha val="14000"/>
            </a:schemeClr>
          </a:solidFill>
          <a:ln/>
        </p:spPr>
      </p:sp>
      <p:pic>
        <p:nvPicPr>
          <p:cNvPr id="21" name="Image 3" descr="preencoded.png">    </p:cNvPr>
          <p:cNvPicPr>
            <a:picLocks noChangeAspect="1"/>
          </p:cNvPicPr>
          <p:nvPr/>
        </p:nvPicPr>
        <p:blipFill>
          <a:blip r:embed="rId4"/>
          <a:stretch>
            <a:fillRect/>
          </a:stretch>
        </p:blipFill>
        <p:spPr>
          <a:xfrm>
            <a:off x="954634" y="4383634"/>
            <a:ext cx="285293" cy="285293"/>
          </a:xfrm>
          <a:prstGeom prst="rect">
            <a:avLst/>
          </a:prstGeom>
        </p:spPr>
      </p:pic>
      <p:sp>
        <p:nvSpPr>
          <p:cNvPr id="22" name="Text 16"/>
          <p:cNvSpPr txBox="1"/>
          <p:nvPr/>
        </p:nvSpPr>
        <p:spPr>
          <a:xfrm>
            <a:off x="1508760" y="4251960"/>
            <a:ext cx="2322576" cy="548640"/>
          </a:xfrm>
          <a:prstGeom prst="rect">
            <a:avLst/>
          </a:prstGeom>
          <a:noFill/>
          <a:ln/>
        </p:spPr>
        <p:txBody>
          <a:bodyPr wrap="square" lIns="0" tIns="0" rIns="0" bIns="0" rtlCol="0" anchor="ctr"/>
          <a:lstStyle/>
          <a:p>
            <a:pPr indent="0" marL="0">
              <a:buNone/>
            </a:pPr>
            <a:r>
              <a:rPr lang="en-US" sz="1700" b="1" dirty="0">
                <a:solidFill>
                  <a:schemeClr val="tx1"/>
                </a:solidFill>
              </a:rPr>
              <a:t>Wrong or outdated answers</a:t>
            </a:r>
            <a:endParaRPr lang="en-US" sz="1700" dirty="0"/>
          </a:p>
        </p:txBody>
      </p:sp>
      <p:sp>
        <p:nvSpPr>
          <p:cNvPr id="23" name="Text 17"/>
          <p:cNvSpPr txBox="1"/>
          <p:nvPr/>
        </p:nvSpPr>
        <p:spPr>
          <a:xfrm>
            <a:off x="822960" y="4956048"/>
            <a:ext cx="2962656" cy="1143000"/>
          </a:xfrm>
          <a:prstGeom prst="rect">
            <a:avLst/>
          </a:prstGeom>
          <a:noFill/>
          <a:ln/>
        </p:spPr>
        <p:txBody>
          <a:bodyPr wrap="square" lIns="0" tIns="0" rIns="0" bIns="0" rtlCol="0" anchor="t"/>
          <a:lstStyle/>
          <a:p>
            <a:pPr indent="0" marL="0">
              <a:buNone/>
            </a:pPr>
            <a:r>
              <a:rPr lang="en-US" sz="1400" dirty="0">
                <a:solidFill>
                  <a:schemeClr val="tx2"/>
                </a:solidFill>
              </a:rPr>
              <a:t>Downvotes need a reason; accepted answers rise to the top; HR and IT can mark answers Official.</a:t>
            </a:r>
            <a:endParaRPr lang="en-US" sz="1400" dirty="0"/>
          </a:p>
        </p:txBody>
      </p:sp>
      <p:sp>
        <p:nvSpPr>
          <p:cNvPr id="24" name="Risk 5"/>
          <p:cNvSpPr/>
          <p:nvPr/>
        </p:nvSpPr>
        <p:spPr>
          <a:xfrm>
            <a:off x="4338828" y="3995928"/>
            <a:ext cx="3511296" cy="2194560"/>
          </a:xfrm>
          <a:prstGeom prst="roundRect">
            <a:avLst>
              <a:gd name="adj" fmla="val 5000"/>
            </a:avLst>
          </a:prstGeom>
          <a:solidFill>
            <a:schemeClr val="bg2"/>
          </a:solidFill>
          <a:ln/>
        </p:spPr>
      </p:sp>
      <p:sp>
        <p:nvSpPr>
          <p:cNvPr id="25" name="Risk icon 5"/>
          <p:cNvSpPr/>
          <p:nvPr/>
        </p:nvSpPr>
        <p:spPr>
          <a:xfrm>
            <a:off x="4613148" y="4251960"/>
            <a:ext cx="548640" cy="548640"/>
          </a:xfrm>
          <a:prstGeom prst="roundRect">
            <a:avLst>
              <a:gd name="adj" fmla="val 28000"/>
            </a:avLst>
          </a:prstGeom>
          <a:solidFill>
            <a:schemeClr val="accent1">
              <a:alpha val="14000"/>
            </a:schemeClr>
          </a:solidFill>
          <a:ln/>
        </p:spPr>
      </p:sp>
      <p:pic>
        <p:nvPicPr>
          <p:cNvPr id="26" name="Image 4" descr="preencoded.png">    </p:cNvPr>
          <p:cNvPicPr>
            <a:picLocks noChangeAspect="1"/>
          </p:cNvPicPr>
          <p:nvPr/>
        </p:nvPicPr>
        <p:blipFill>
          <a:blip r:embed="rId5"/>
          <a:stretch>
            <a:fillRect/>
          </a:stretch>
        </p:blipFill>
        <p:spPr>
          <a:xfrm>
            <a:off x="4744822" y="4383634"/>
            <a:ext cx="285293" cy="285293"/>
          </a:xfrm>
          <a:prstGeom prst="rect">
            <a:avLst/>
          </a:prstGeom>
        </p:spPr>
      </p:pic>
      <p:sp>
        <p:nvSpPr>
          <p:cNvPr id="27" name="Text 20"/>
          <p:cNvSpPr txBox="1"/>
          <p:nvPr/>
        </p:nvSpPr>
        <p:spPr>
          <a:xfrm>
            <a:off x="5298948" y="4251960"/>
            <a:ext cx="2322576" cy="548640"/>
          </a:xfrm>
          <a:prstGeom prst="rect">
            <a:avLst/>
          </a:prstGeom>
          <a:noFill/>
          <a:ln/>
        </p:spPr>
        <p:txBody>
          <a:bodyPr wrap="square" lIns="0" tIns="0" rIns="0" bIns="0" rtlCol="0" anchor="ctr"/>
          <a:lstStyle/>
          <a:p>
            <a:pPr indent="0" marL="0">
              <a:buNone/>
            </a:pPr>
            <a:r>
              <a:rPr lang="en-US" sz="1700" b="1" dirty="0">
                <a:solidFill>
                  <a:schemeClr val="tx1"/>
                </a:solidFill>
              </a:rPr>
              <a:t>Someone in crisis</a:t>
            </a:r>
            <a:endParaRPr lang="en-US" sz="1700" dirty="0"/>
          </a:p>
        </p:txBody>
      </p:sp>
      <p:sp>
        <p:nvSpPr>
          <p:cNvPr id="28" name="Text 21"/>
          <p:cNvSpPr txBox="1"/>
          <p:nvPr/>
        </p:nvSpPr>
        <p:spPr>
          <a:xfrm>
            <a:off x="4613148" y="4956048"/>
            <a:ext cx="2962656" cy="1143000"/>
          </a:xfrm>
          <a:prstGeom prst="rect">
            <a:avLst/>
          </a:prstGeom>
          <a:noFill/>
          <a:ln/>
        </p:spPr>
        <p:txBody>
          <a:bodyPr wrap="square" lIns="0" tIns="0" rIns="0" bIns="0" rtlCol="0" anchor="t"/>
          <a:lstStyle/>
          <a:p>
            <a:pPr indent="0" marL="0">
              <a:buNone/>
            </a:pPr>
            <a:r>
              <a:rPr lang="en-US" sz="1400" dirty="0">
                <a:solidFill>
                  <a:schemeClr val="tx2"/>
                </a:solidFill>
              </a:rPr>
              <a:t>Never blocked or punished: Capy shows support and emergency routes, with a clear “not monitored” notice.</a:t>
            </a:r>
            <a:endParaRPr lang="en-US" sz="1400" dirty="0"/>
          </a:p>
        </p:txBody>
      </p:sp>
      <p:sp>
        <p:nvSpPr>
          <p:cNvPr id="29" name="Risk 6"/>
          <p:cNvSpPr/>
          <p:nvPr/>
        </p:nvSpPr>
        <p:spPr>
          <a:xfrm>
            <a:off x="8129016" y="3995928"/>
            <a:ext cx="3511296" cy="2194560"/>
          </a:xfrm>
          <a:prstGeom prst="roundRect">
            <a:avLst>
              <a:gd name="adj" fmla="val 5000"/>
            </a:avLst>
          </a:prstGeom>
          <a:solidFill>
            <a:schemeClr val="bg2"/>
          </a:solidFill>
          <a:ln/>
        </p:spPr>
      </p:sp>
      <p:sp>
        <p:nvSpPr>
          <p:cNvPr id="30" name="Risk icon 6"/>
          <p:cNvSpPr/>
          <p:nvPr/>
        </p:nvSpPr>
        <p:spPr>
          <a:xfrm>
            <a:off x="8403336" y="4251960"/>
            <a:ext cx="548640" cy="548640"/>
          </a:xfrm>
          <a:prstGeom prst="roundRect">
            <a:avLst>
              <a:gd name="adj" fmla="val 28000"/>
            </a:avLst>
          </a:prstGeom>
          <a:solidFill>
            <a:schemeClr val="accent1">
              <a:alpha val="14000"/>
            </a:schemeClr>
          </a:solidFill>
          <a:ln/>
        </p:spPr>
      </p:sp>
      <p:pic>
        <p:nvPicPr>
          <p:cNvPr id="31" name="Image 5" descr="preencoded.png">    </p:cNvPr>
          <p:cNvPicPr>
            <a:picLocks noChangeAspect="1"/>
          </p:cNvPicPr>
          <p:nvPr/>
        </p:nvPicPr>
        <p:blipFill>
          <a:blip r:embed="rId6"/>
          <a:stretch>
            <a:fillRect/>
          </a:stretch>
        </p:blipFill>
        <p:spPr>
          <a:xfrm>
            <a:off x="8535010" y="4383634"/>
            <a:ext cx="285293" cy="285293"/>
          </a:xfrm>
          <a:prstGeom prst="rect">
            <a:avLst/>
          </a:prstGeom>
        </p:spPr>
      </p:pic>
      <p:sp>
        <p:nvSpPr>
          <p:cNvPr id="32" name="Text 24"/>
          <p:cNvSpPr txBox="1"/>
          <p:nvPr/>
        </p:nvSpPr>
        <p:spPr>
          <a:xfrm>
            <a:off x="9089136" y="4251960"/>
            <a:ext cx="2322576" cy="548640"/>
          </a:xfrm>
          <a:prstGeom prst="rect">
            <a:avLst/>
          </a:prstGeom>
          <a:noFill/>
          <a:ln/>
        </p:spPr>
        <p:txBody>
          <a:bodyPr wrap="square" lIns="0" tIns="0" rIns="0" bIns="0" rtlCol="0" anchor="ctr"/>
          <a:lstStyle/>
          <a:p>
            <a:pPr indent="0" marL="0">
              <a:buNone/>
            </a:pPr>
            <a:r>
              <a:rPr lang="en-US" sz="1700" b="1" dirty="0">
                <a:solidFill>
                  <a:schemeClr val="tx1"/>
                </a:solidFill>
              </a:rPr>
              <a:t>Gamification pressure</a:t>
            </a:r>
            <a:endParaRPr lang="en-US" sz="1700" dirty="0"/>
          </a:p>
        </p:txBody>
      </p:sp>
      <p:sp>
        <p:nvSpPr>
          <p:cNvPr id="33" name="Text 25"/>
          <p:cNvSpPr txBox="1"/>
          <p:nvPr/>
        </p:nvSpPr>
        <p:spPr>
          <a:xfrm>
            <a:off x="8403336" y="4956048"/>
            <a:ext cx="2962656" cy="1143000"/>
          </a:xfrm>
          <a:prstGeom prst="rect">
            <a:avLst/>
          </a:prstGeom>
          <a:noFill/>
          <a:ln/>
        </p:spPr>
        <p:txBody>
          <a:bodyPr wrap="square" lIns="0" tIns="0" rIns="0" bIns="0" rtlCol="0" anchor="t"/>
          <a:lstStyle/>
          <a:p>
            <a:pPr indent="0" marL="0">
              <a:buNone/>
            </a:pPr>
            <a:r>
              <a:rPr lang="en-US" sz="1400" dirty="0">
                <a:solidFill>
                  <a:schemeClr val="tx2"/>
                </a:solidFill>
              </a:rPr>
              <a:t>Points capped daily and never used in reviews; no streak guilt. Capy never interrupts (the Clippy lesson).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58368"/>
          </a:xfrm>
          <a:prstGeom prst="rect">
            <a:avLst/>
          </a:prstGeom>
          <a:noFill/>
          <a:ln/>
        </p:spPr>
        <p:txBody>
          <a:bodyPr wrap="square" lIns="0" tIns="0" rIns="0" bIns="0" rtlCol="0" anchor="ctr"/>
          <a:lstStyle/>
          <a:p>
            <a:pPr algn="l" indent="0" marL="0">
              <a:buNone/>
            </a:pPr>
            <a:r>
              <a:rPr lang="en-US" sz="3000" b="1" dirty="0">
                <a:solidFill>
                  <a:schemeClr val="bg1"/>
                </a:solidFill>
              </a:rPr>
              <a:t>Roadmap and what we need</a:t>
            </a:r>
            <a:endParaRPr lang="en-US" sz="3000" dirty="0"/>
          </a:p>
        </p:txBody>
      </p:sp>
      <p:sp>
        <p:nvSpPr>
          <p:cNvPr id="3" name="Text 0"/>
          <p:cNvSpPr/>
          <p:nvPr>
            <p:ph idx="101" type="body" hasCustomPrompt="1"/>
          </p:nvPr>
        </p:nvSpPr>
        <p:spPr>
          <a:xfrm>
            <a:off x="548640" y="1005840"/>
            <a:ext cx="11091672" cy="411480"/>
          </a:xfrm>
          <a:prstGeom prst="rect">
            <a:avLst/>
          </a:prstGeom>
          <a:noFill/>
          <a:ln/>
        </p:spPr>
        <p:txBody>
          <a:bodyPr wrap="square" lIns="0" tIns="0" rIns="0" bIns="0" rtlCol="0" anchor="t"/>
          <a:lstStyle/>
          <a:p>
            <a:pPr indent="0" marL="0">
              <a:buNone/>
            </a:pPr>
            <a:r>
              <a:rPr lang="en-US" sz="1600" dirty="0">
                <a:solidFill>
                  <a:schemeClr val="bg2"/>
                </a:solidFill>
              </a:rPr>
              <a:t>A working prototype today; a one-site pilot is the next step.</a:t>
            </a:r>
            <a:endParaRPr lang="en-US" sz="1600" dirty="0"/>
          </a:p>
        </p:txBody>
      </p:sp>
      <p:sp>
        <p:nvSpPr>
          <p:cNvPr id="4" name="Phase card 1"/>
          <p:cNvSpPr/>
          <p:nvPr/>
        </p:nvSpPr>
        <p:spPr>
          <a:xfrm>
            <a:off x="548640" y="1600200"/>
            <a:ext cx="2468880" cy="2377440"/>
          </a:xfrm>
          <a:prstGeom prst="roundRect">
            <a:avLst>
              <a:gd name="adj" fmla="val 4615"/>
            </a:avLst>
          </a:prstGeom>
          <a:solidFill>
            <a:schemeClr val="bg1">
              <a:alpha val="8000"/>
            </a:schemeClr>
          </a:solidFill>
          <a:ln w="15875">
            <a:solidFill>
              <a:srgbClr val="1A8452"/>
            </a:solidFill>
            <a:prstDash val="solid"/>
          </a:ln>
        </p:spPr>
      </p:sp>
      <p:sp>
        <p:nvSpPr>
          <p:cNvPr id="5" name="Text 3"/>
          <p:cNvSpPr txBox="1"/>
          <p:nvPr/>
        </p:nvSpPr>
        <p:spPr>
          <a:xfrm>
            <a:off x="777240" y="1783080"/>
            <a:ext cx="137160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PHASE 1</a:t>
            </a:r>
            <a:endParaRPr lang="en-US" sz="1100" dirty="0"/>
          </a:p>
        </p:txBody>
      </p:sp>
      <p:sp>
        <p:nvSpPr>
          <p:cNvPr id="6" name="Text 4"/>
          <p:cNvSpPr txBox="1"/>
          <p:nvPr/>
        </p:nvSpPr>
        <p:spPr>
          <a:xfrm>
            <a:off x="1920240" y="1783080"/>
            <a:ext cx="868680" cy="274320"/>
          </a:xfrm>
          <a:prstGeom prst="rect">
            <a:avLst/>
          </a:prstGeom>
          <a:noFill/>
          <a:ln/>
        </p:spPr>
        <p:txBody>
          <a:bodyPr wrap="square" lIns="0" tIns="0" rIns="0" bIns="0" rtlCol="0" anchor="t"/>
          <a:lstStyle/>
          <a:p>
            <a:pPr algn="r" indent="0" marL="0">
              <a:buNone/>
            </a:pPr>
            <a:r>
              <a:rPr lang="en-US" sz="1100" b="1" dirty="0">
                <a:solidFill>
                  <a:schemeClr val="bg2"/>
                </a:solidFill>
              </a:rPr>
              <a:t>Done</a:t>
            </a:r>
            <a:endParaRPr lang="en-US" sz="1100" dirty="0"/>
          </a:p>
        </p:txBody>
      </p:sp>
      <p:sp>
        <p:nvSpPr>
          <p:cNvPr id="7" name="Text 5"/>
          <p:cNvSpPr txBox="1"/>
          <p:nvPr/>
        </p:nvSpPr>
        <p:spPr>
          <a:xfrm>
            <a:off x="777240" y="2084832"/>
            <a:ext cx="2011680" cy="411480"/>
          </a:xfrm>
          <a:prstGeom prst="rect">
            <a:avLst/>
          </a:prstGeom>
          <a:noFill/>
          <a:ln/>
        </p:spPr>
        <p:txBody>
          <a:bodyPr wrap="square" lIns="0" tIns="0" rIns="0" bIns="0" rtlCol="0" anchor="t"/>
          <a:lstStyle/>
          <a:p>
            <a:pPr indent="0" marL="0">
              <a:buNone/>
            </a:pPr>
            <a:r>
              <a:rPr lang="en-US" sz="2200" b="1" dirty="0">
                <a:solidFill>
                  <a:schemeClr val="bg1"/>
                </a:solidFill>
              </a:rPr>
              <a:t>Prototype</a:t>
            </a:r>
            <a:endParaRPr lang="en-US" sz="2200" dirty="0"/>
          </a:p>
        </p:txBody>
      </p:sp>
      <p:sp>
        <p:nvSpPr>
          <p:cNvPr id="8" name="Text 6"/>
          <p:cNvSpPr txBox="1"/>
          <p:nvPr/>
        </p:nvSpPr>
        <p:spPr>
          <a:xfrm>
            <a:off x="777240" y="2606040"/>
            <a:ext cx="210312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2"/>
                </a:solidFill>
              </a:rPr>
              <a:t>Local-first app with Capy</a:t>
            </a:r>
            <a:endParaRPr lang="en-US" sz="1300" dirty="0"/>
          </a:p>
          <a:p>
            <a:pPr marL="342900" indent="-342900">
              <a:spcAft>
                <a:spcPts val="600"/>
              </a:spcAft>
              <a:buSzPct val="100000"/>
              <a:buChar char="•"/>
            </a:pPr>
            <a:r>
              <a:rPr lang="en-US" sz="1300" dirty="0">
                <a:solidFill>
                  <a:schemeClr val="bg2"/>
                </a:solidFill>
              </a:rPr>
              <a:t>Community, well-being, resources</a:t>
            </a:r>
            <a:endParaRPr lang="en-US" sz="1300" dirty="0"/>
          </a:p>
          <a:p>
            <a:pPr marL="342900" indent="-342900">
              <a:spcAft>
                <a:spcPts val="600"/>
              </a:spcAft>
              <a:buSzPct val="100000"/>
              <a:buChar char="•"/>
            </a:pPr>
            <a:r>
              <a:rPr lang="en-US" sz="1300" dirty="0">
                <a:solidFill>
                  <a:schemeClr val="bg2"/>
                </a:solidFill>
              </a:rPr>
              <a:t>43 automated tests</a:t>
            </a:r>
            <a:endParaRPr lang="en-US" sz="1300" dirty="0"/>
          </a:p>
        </p:txBody>
      </p:sp>
      <p:sp>
        <p:nvSpPr>
          <p:cNvPr id="9" name="Phase card 2"/>
          <p:cNvSpPr/>
          <p:nvPr/>
        </p:nvSpPr>
        <p:spPr>
          <a:xfrm>
            <a:off x="3182112" y="1600200"/>
            <a:ext cx="2468880" cy="2377440"/>
          </a:xfrm>
          <a:prstGeom prst="roundRect">
            <a:avLst>
              <a:gd name="adj" fmla="val 4615"/>
            </a:avLst>
          </a:prstGeom>
          <a:solidFill>
            <a:schemeClr val="bg1">
              <a:alpha val="8000"/>
            </a:schemeClr>
          </a:solidFill>
          <a:ln w="15875">
            <a:solidFill>
              <a:srgbClr val="E4002B"/>
            </a:solidFill>
            <a:prstDash val="solid"/>
          </a:ln>
        </p:spPr>
      </p:sp>
      <p:sp>
        <p:nvSpPr>
          <p:cNvPr id="10" name="Text 8"/>
          <p:cNvSpPr txBox="1"/>
          <p:nvPr/>
        </p:nvSpPr>
        <p:spPr>
          <a:xfrm>
            <a:off x="3410712" y="1783080"/>
            <a:ext cx="13716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PHASE 2</a:t>
            </a:r>
            <a:endParaRPr lang="en-US" sz="1100" dirty="0"/>
          </a:p>
        </p:txBody>
      </p:sp>
      <p:sp>
        <p:nvSpPr>
          <p:cNvPr id="11" name="Text 9"/>
          <p:cNvSpPr txBox="1"/>
          <p:nvPr/>
        </p:nvSpPr>
        <p:spPr>
          <a:xfrm>
            <a:off x="4553712" y="1783080"/>
            <a:ext cx="868680" cy="274320"/>
          </a:xfrm>
          <a:prstGeom prst="rect">
            <a:avLst/>
          </a:prstGeom>
          <a:noFill/>
          <a:ln/>
        </p:spPr>
        <p:txBody>
          <a:bodyPr wrap="square" lIns="0" tIns="0" rIns="0" bIns="0" rtlCol="0" anchor="t"/>
          <a:lstStyle/>
          <a:p>
            <a:pPr algn="r" indent="0" marL="0">
              <a:buNone/>
            </a:pPr>
            <a:r>
              <a:rPr lang="en-US" sz="1100" b="1" dirty="0">
                <a:solidFill>
                  <a:schemeClr val="bg2"/>
                </a:solidFill>
              </a:rPr>
              <a:t>Next</a:t>
            </a:r>
            <a:endParaRPr lang="en-US" sz="1100" dirty="0"/>
          </a:p>
        </p:txBody>
      </p:sp>
      <p:sp>
        <p:nvSpPr>
          <p:cNvPr id="12" name="Text 10"/>
          <p:cNvSpPr txBox="1"/>
          <p:nvPr/>
        </p:nvSpPr>
        <p:spPr>
          <a:xfrm>
            <a:off x="3410712" y="2084832"/>
            <a:ext cx="2011680" cy="411480"/>
          </a:xfrm>
          <a:prstGeom prst="rect">
            <a:avLst/>
          </a:prstGeom>
          <a:noFill/>
          <a:ln/>
        </p:spPr>
        <p:txBody>
          <a:bodyPr wrap="square" lIns="0" tIns="0" rIns="0" bIns="0" rtlCol="0" anchor="t"/>
          <a:lstStyle/>
          <a:p>
            <a:pPr indent="0" marL="0">
              <a:buNone/>
            </a:pPr>
            <a:r>
              <a:rPr lang="en-US" sz="2200" b="1" dirty="0">
                <a:solidFill>
                  <a:schemeClr val="bg1"/>
                </a:solidFill>
              </a:rPr>
              <a:t>Pilot</a:t>
            </a:r>
            <a:endParaRPr lang="en-US" sz="2200" dirty="0"/>
          </a:p>
        </p:txBody>
      </p:sp>
      <p:sp>
        <p:nvSpPr>
          <p:cNvPr id="13" name="Text 11"/>
          <p:cNvSpPr txBox="1"/>
          <p:nvPr/>
        </p:nvSpPr>
        <p:spPr>
          <a:xfrm>
            <a:off x="3410712" y="2606040"/>
            <a:ext cx="210312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2"/>
                </a:solidFill>
              </a:rPr>
              <a:t>One site, about 12 weeks</a:t>
            </a:r>
            <a:endParaRPr lang="en-US" sz="1300" dirty="0"/>
          </a:p>
          <a:p>
            <a:pPr marL="342900" indent="-342900">
              <a:spcAft>
                <a:spcPts val="600"/>
              </a:spcAft>
              <a:buSzPct val="100000"/>
              <a:buChar char="•"/>
            </a:pPr>
            <a:r>
              <a:rPr lang="en-US" sz="1300" dirty="0">
                <a:solidFill>
                  <a:schemeClr val="bg2"/>
                </a:solidFill>
              </a:rPr>
              <a:t>SSO, shared community, AI moderation</a:t>
            </a:r>
            <a:endParaRPr lang="en-US" sz="1300" dirty="0"/>
          </a:p>
          <a:p>
            <a:pPr marL="342900" indent="-342900">
              <a:spcAft>
                <a:spcPts val="600"/>
              </a:spcAft>
              <a:buSzPct val="100000"/>
              <a:buChar char="•"/>
            </a:pPr>
            <a:r>
              <a:rPr lang="en-US" sz="1300" dirty="0">
                <a:solidFill>
                  <a:schemeClr val="bg2"/>
                </a:solidFill>
              </a:rPr>
              <a:t>Official HR and IT answers</a:t>
            </a:r>
            <a:endParaRPr lang="en-US" sz="1300" dirty="0"/>
          </a:p>
        </p:txBody>
      </p:sp>
      <p:sp>
        <p:nvSpPr>
          <p:cNvPr id="14" name="Phase card 3"/>
          <p:cNvSpPr/>
          <p:nvPr/>
        </p:nvSpPr>
        <p:spPr>
          <a:xfrm>
            <a:off x="5815584" y="1600200"/>
            <a:ext cx="2468880" cy="2377440"/>
          </a:xfrm>
          <a:prstGeom prst="roundRect">
            <a:avLst>
              <a:gd name="adj" fmla="val 4615"/>
            </a:avLst>
          </a:prstGeom>
          <a:solidFill>
            <a:schemeClr val="bg1">
              <a:alpha val="8000"/>
            </a:schemeClr>
          </a:solidFill>
          <a:ln w="15875">
            <a:solidFill>
              <a:srgbClr val="2563C9"/>
            </a:solidFill>
            <a:prstDash val="solid"/>
          </a:ln>
        </p:spPr>
      </p:sp>
      <p:sp>
        <p:nvSpPr>
          <p:cNvPr id="15" name="Text 13"/>
          <p:cNvSpPr txBox="1"/>
          <p:nvPr/>
        </p:nvSpPr>
        <p:spPr>
          <a:xfrm>
            <a:off x="6044184" y="1783080"/>
            <a:ext cx="13716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PHASE 3</a:t>
            </a:r>
            <a:endParaRPr lang="en-US" sz="1100" dirty="0"/>
          </a:p>
        </p:txBody>
      </p:sp>
      <p:sp>
        <p:nvSpPr>
          <p:cNvPr id="16" name="Text 14"/>
          <p:cNvSpPr txBox="1"/>
          <p:nvPr/>
        </p:nvSpPr>
        <p:spPr>
          <a:xfrm>
            <a:off x="7187184" y="1783080"/>
            <a:ext cx="868680" cy="274320"/>
          </a:xfrm>
          <a:prstGeom prst="rect">
            <a:avLst/>
          </a:prstGeom>
          <a:noFill/>
          <a:ln/>
        </p:spPr>
        <p:txBody>
          <a:bodyPr wrap="square" lIns="0" tIns="0" rIns="0" bIns="0" rtlCol="0" anchor="t"/>
          <a:lstStyle/>
          <a:p>
            <a:pPr algn="r" indent="0" marL="0">
              <a:buNone/>
            </a:pPr>
            <a:r>
              <a:rPr lang="en-US" sz="1100" b="1" dirty="0">
                <a:solidFill>
                  <a:schemeClr val="bg2"/>
                </a:solidFill>
              </a:rPr>
              <a:t>Later</a:t>
            </a:r>
            <a:endParaRPr lang="en-US" sz="1100" dirty="0"/>
          </a:p>
        </p:txBody>
      </p:sp>
      <p:sp>
        <p:nvSpPr>
          <p:cNvPr id="17" name="Text 15"/>
          <p:cNvSpPr txBox="1"/>
          <p:nvPr/>
        </p:nvSpPr>
        <p:spPr>
          <a:xfrm>
            <a:off x="6044184" y="2084832"/>
            <a:ext cx="2011680" cy="411480"/>
          </a:xfrm>
          <a:prstGeom prst="rect">
            <a:avLst/>
          </a:prstGeom>
          <a:noFill/>
          <a:ln/>
        </p:spPr>
        <p:txBody>
          <a:bodyPr wrap="square" lIns="0" tIns="0" rIns="0" bIns="0" rtlCol="0" anchor="t"/>
          <a:lstStyle/>
          <a:p>
            <a:pPr indent="0" marL="0">
              <a:buNone/>
            </a:pPr>
            <a:r>
              <a:rPr lang="en-US" sz="2200" b="1" dirty="0">
                <a:solidFill>
                  <a:schemeClr val="bg1"/>
                </a:solidFill>
              </a:rPr>
              <a:t>Scale</a:t>
            </a:r>
            <a:endParaRPr lang="en-US" sz="2200" dirty="0"/>
          </a:p>
        </p:txBody>
      </p:sp>
      <p:sp>
        <p:nvSpPr>
          <p:cNvPr id="18" name="Text 16"/>
          <p:cNvSpPr txBox="1"/>
          <p:nvPr/>
        </p:nvSpPr>
        <p:spPr>
          <a:xfrm>
            <a:off x="6044184" y="2606040"/>
            <a:ext cx="210312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2"/>
                </a:solidFill>
              </a:rPr>
              <a:t>More sites and languages</a:t>
            </a:r>
            <a:endParaRPr lang="en-US" sz="1300" dirty="0"/>
          </a:p>
          <a:p>
            <a:pPr marL="342900" indent="-342900">
              <a:spcAft>
                <a:spcPts val="600"/>
              </a:spcAft>
              <a:buSzPct val="100000"/>
              <a:buChar char="•"/>
            </a:pPr>
            <a:r>
              <a:rPr lang="en-US" sz="1300" dirty="0">
                <a:solidFill>
                  <a:schemeClr val="bg2"/>
                </a:solidFill>
              </a:rPr>
              <a:t>Aggregate insights for leaders</a:t>
            </a:r>
            <a:endParaRPr lang="en-US" sz="1300" dirty="0"/>
          </a:p>
          <a:p>
            <a:pPr marL="342900" indent="-342900">
              <a:spcAft>
                <a:spcPts val="600"/>
              </a:spcAft>
              <a:buSzPct val="100000"/>
              <a:buChar char="•"/>
            </a:pPr>
            <a:r>
              <a:rPr lang="en-US" sz="1300" dirty="0">
                <a:solidFill>
                  <a:schemeClr val="bg2"/>
                </a:solidFill>
              </a:rPr>
              <a:t>Link to HR/IT service tools</a:t>
            </a:r>
            <a:endParaRPr lang="en-US" sz="1300" dirty="0"/>
          </a:p>
        </p:txBody>
      </p:sp>
      <p:sp>
        <p:nvSpPr>
          <p:cNvPr id="19" name="Capy halo"/>
          <p:cNvSpPr/>
          <p:nvPr/>
        </p:nvSpPr>
        <p:spPr>
          <a:xfrm>
            <a:off x="9006840" y="1600200"/>
            <a:ext cx="2377440" cy="2377440"/>
          </a:xfrm>
          <a:prstGeom prst="ellipse">
            <a:avLst/>
          </a:prstGeom>
          <a:solidFill>
            <a:schemeClr val="bg1"/>
          </a:solidFill>
          <a:ln/>
        </p:spPr>
      </p:sp>
      <p:pic>
        <p:nvPicPr>
          <p:cNvPr id="20" name="Image 0" descr="Capy celebrating">    </p:cNvPr>
          <p:cNvPicPr>
            <a:picLocks noChangeAspect="1"/>
          </p:cNvPicPr>
          <p:nvPr/>
        </p:nvPicPr>
        <p:blipFill>
          <a:blip r:embed="rId1"/>
          <a:stretch>
            <a:fillRect/>
          </a:stretch>
        </p:blipFill>
        <p:spPr>
          <a:xfrm>
            <a:off x="9473184" y="1965960"/>
            <a:ext cx="1463040" cy="1554480"/>
          </a:xfrm>
          <a:prstGeom prst="rect">
            <a:avLst/>
          </a:prstGeom>
        </p:spPr>
      </p:pic>
      <p:sp>
        <p:nvSpPr>
          <p:cNvPr id="21" name="The ask"/>
          <p:cNvSpPr/>
          <p:nvPr/>
        </p:nvSpPr>
        <p:spPr>
          <a:xfrm>
            <a:off x="548640" y="4343400"/>
            <a:ext cx="11091672" cy="1691640"/>
          </a:xfrm>
          <a:prstGeom prst="roundRect">
            <a:avLst>
              <a:gd name="adj" fmla="val 6486"/>
            </a:avLst>
          </a:prstGeom>
          <a:solidFill>
            <a:schemeClr val="accent1"/>
          </a:solidFill>
          <a:ln/>
        </p:spPr>
      </p:sp>
      <p:sp>
        <p:nvSpPr>
          <p:cNvPr id="22" name="Text 19"/>
          <p:cNvSpPr txBox="1"/>
          <p:nvPr/>
        </p:nvSpPr>
        <p:spPr>
          <a:xfrm>
            <a:off x="822960" y="4526280"/>
            <a:ext cx="7315200" cy="365760"/>
          </a:xfrm>
          <a:prstGeom prst="rect">
            <a:avLst/>
          </a:prstGeom>
          <a:noFill/>
          <a:ln/>
        </p:spPr>
        <p:txBody>
          <a:bodyPr wrap="square" lIns="0" tIns="0" rIns="0" bIns="0" rtlCol="0" anchor="t"/>
          <a:lstStyle/>
          <a:p>
            <a:pPr indent="0" marL="0">
              <a:buNone/>
            </a:pPr>
            <a:r>
              <a:rPr lang="en-US" sz="1800" b="1" dirty="0">
                <a:solidFill>
                  <a:schemeClr val="bg1"/>
                </a:solidFill>
              </a:rPr>
              <a:t>What we need to start the pilot</a:t>
            </a:r>
            <a:endParaRPr lang="en-US" sz="1800" dirty="0"/>
          </a:p>
        </p:txBody>
      </p:sp>
      <p:pic>
        <p:nvPicPr>
          <p:cNvPr id="23" name="Image 1" descr="preencoded.png">    </p:cNvPr>
          <p:cNvPicPr>
            <a:picLocks noChangeAspect="1"/>
          </p:cNvPicPr>
          <p:nvPr/>
        </p:nvPicPr>
        <p:blipFill>
          <a:blip r:embed="rId2"/>
          <a:stretch>
            <a:fillRect/>
          </a:stretch>
        </p:blipFill>
        <p:spPr>
          <a:xfrm>
            <a:off x="822960" y="5212080"/>
            <a:ext cx="365760" cy="365760"/>
          </a:xfrm>
          <a:prstGeom prst="rect">
            <a:avLst/>
          </a:prstGeom>
        </p:spPr>
      </p:pic>
      <p:sp>
        <p:nvSpPr>
          <p:cNvPr id="24" name="Text 20"/>
          <p:cNvSpPr txBox="1"/>
          <p:nvPr/>
        </p:nvSpPr>
        <p:spPr>
          <a:xfrm>
            <a:off x="1325880" y="5074920"/>
            <a:ext cx="1828800" cy="640080"/>
          </a:xfrm>
          <a:prstGeom prst="rect">
            <a:avLst/>
          </a:prstGeom>
          <a:noFill/>
          <a:ln/>
        </p:spPr>
        <p:txBody>
          <a:bodyPr wrap="square" lIns="0" tIns="0" rIns="0" bIns="0" rtlCol="0" anchor="ctr"/>
          <a:lstStyle/>
          <a:p>
            <a:pPr indent="0" marL="0">
              <a:buNone/>
            </a:pPr>
            <a:r>
              <a:rPr lang="en-US" sz="1400" b="1" dirty="0">
                <a:solidFill>
                  <a:schemeClr val="bg1"/>
                </a:solidFill>
              </a:rPr>
              <a:t>Executive sponsor</a:t>
            </a:r>
            <a:endParaRPr lang="en-US" sz="1400" dirty="0"/>
          </a:p>
        </p:txBody>
      </p:sp>
      <p:pic>
        <p:nvPicPr>
          <p:cNvPr id="25" name="Image 2" descr="preencoded.png">    </p:cNvPr>
          <p:cNvPicPr>
            <a:picLocks noChangeAspect="1"/>
          </p:cNvPicPr>
          <p:nvPr/>
        </p:nvPicPr>
        <p:blipFill>
          <a:blip r:embed="rId3"/>
          <a:stretch>
            <a:fillRect/>
          </a:stretch>
        </p:blipFill>
        <p:spPr>
          <a:xfrm>
            <a:off x="3520440" y="5212080"/>
            <a:ext cx="365760" cy="365760"/>
          </a:xfrm>
          <a:prstGeom prst="rect">
            <a:avLst/>
          </a:prstGeom>
        </p:spPr>
      </p:pic>
      <p:sp>
        <p:nvSpPr>
          <p:cNvPr id="26" name="Text 21"/>
          <p:cNvSpPr txBox="1"/>
          <p:nvPr/>
        </p:nvSpPr>
        <p:spPr>
          <a:xfrm>
            <a:off x="4023360" y="5074920"/>
            <a:ext cx="1371600" cy="640080"/>
          </a:xfrm>
          <a:prstGeom prst="rect">
            <a:avLst/>
          </a:prstGeom>
          <a:noFill/>
          <a:ln/>
        </p:spPr>
        <p:txBody>
          <a:bodyPr wrap="square" lIns="0" tIns="0" rIns="0" bIns="0" rtlCol="0" anchor="ctr"/>
          <a:lstStyle/>
          <a:p>
            <a:pPr indent="0" marL="0">
              <a:buNone/>
            </a:pPr>
            <a:r>
              <a:rPr lang="en-US" sz="1400" b="1" dirty="0">
                <a:solidFill>
                  <a:schemeClr val="bg1"/>
                </a:solidFill>
              </a:rPr>
              <a:t>One pilot site</a:t>
            </a:r>
            <a:endParaRPr lang="en-US" sz="1400" dirty="0"/>
          </a:p>
        </p:txBody>
      </p:sp>
      <p:pic>
        <p:nvPicPr>
          <p:cNvPr id="27" name="Image 3" descr="preencoded.png">    </p:cNvPr>
          <p:cNvPicPr>
            <a:picLocks noChangeAspect="1"/>
          </p:cNvPicPr>
          <p:nvPr/>
        </p:nvPicPr>
        <p:blipFill>
          <a:blip r:embed="rId4"/>
          <a:stretch>
            <a:fillRect/>
          </a:stretch>
        </p:blipFill>
        <p:spPr>
          <a:xfrm>
            <a:off x="5760720" y="5212080"/>
            <a:ext cx="365760" cy="365760"/>
          </a:xfrm>
          <a:prstGeom prst="rect">
            <a:avLst/>
          </a:prstGeom>
        </p:spPr>
      </p:pic>
      <p:sp>
        <p:nvSpPr>
          <p:cNvPr id="28" name="Text 22"/>
          <p:cNvSpPr txBox="1"/>
          <p:nvPr/>
        </p:nvSpPr>
        <p:spPr>
          <a:xfrm>
            <a:off x="6263640" y="5074920"/>
            <a:ext cx="2194560" cy="640080"/>
          </a:xfrm>
          <a:prstGeom prst="rect">
            <a:avLst/>
          </a:prstGeom>
          <a:noFill/>
          <a:ln/>
        </p:spPr>
        <p:txBody>
          <a:bodyPr wrap="square" lIns="0" tIns="0" rIns="0" bIns="0" rtlCol="0" anchor="ctr"/>
          <a:lstStyle/>
          <a:p>
            <a:pPr indent="0" marL="0">
              <a:buNone/>
            </a:pPr>
            <a:r>
              <a:rPr lang="en-US" sz="1400" b="1" dirty="0">
                <a:solidFill>
                  <a:schemeClr val="bg1"/>
                </a:solidFill>
              </a:rPr>
              <a:t>HR and IT content owners</a:t>
            </a:r>
            <a:endParaRPr lang="en-US" sz="1400" dirty="0"/>
          </a:p>
        </p:txBody>
      </p:sp>
      <p:pic>
        <p:nvPicPr>
          <p:cNvPr id="29" name="Image 4" descr="preencoded.png">    </p:cNvPr>
          <p:cNvPicPr>
            <a:picLocks noChangeAspect="1"/>
          </p:cNvPicPr>
          <p:nvPr/>
        </p:nvPicPr>
        <p:blipFill>
          <a:blip r:embed="rId5"/>
          <a:stretch>
            <a:fillRect/>
          </a:stretch>
        </p:blipFill>
        <p:spPr>
          <a:xfrm>
            <a:off x="8823960" y="5212080"/>
            <a:ext cx="365760" cy="365760"/>
          </a:xfrm>
          <a:prstGeom prst="rect">
            <a:avLst/>
          </a:prstGeom>
        </p:spPr>
      </p:pic>
      <p:sp>
        <p:nvSpPr>
          <p:cNvPr id="30" name="Text 23"/>
          <p:cNvSpPr txBox="1"/>
          <p:nvPr/>
        </p:nvSpPr>
        <p:spPr>
          <a:xfrm>
            <a:off x="9326880" y="5074920"/>
            <a:ext cx="2011680" cy="640080"/>
          </a:xfrm>
          <a:prstGeom prst="rect">
            <a:avLst/>
          </a:prstGeom>
          <a:noFill/>
          <a:ln/>
        </p:spPr>
        <p:txBody>
          <a:bodyPr wrap="square" lIns="0" tIns="0" rIns="0" bIns="0" rtlCol="0" anchor="ctr"/>
          <a:lstStyle/>
          <a:p>
            <a:pPr indent="0" marL="0">
              <a:buNone/>
            </a:pPr>
            <a:r>
              <a:rPr lang="en-US" sz="1400" b="1" dirty="0">
                <a:solidFill>
                  <a:schemeClr val="bg1"/>
                </a:solidFill>
              </a:rPr>
              <a:t>Privacy, legal and</a:t>
            </a:r>
            <a:endParaRPr lang="en-US" sz="1400" dirty="0"/>
          </a:p>
          <a:p>
            <a:pPr indent="0" marL="0">
              <a:buNone/>
            </a:pPr>
            <a:r>
              <a:rPr lang="en-US" sz="1400" b="1" dirty="0">
                <a:solidFill>
                  <a:schemeClr val="bg1"/>
                </a:solidFill>
              </a:rPr>
              <a:t>works-council review</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BB Help Me">
  <a:themeElements>
    <a:clrScheme name="ABB Help Me">
      <a:dk1>
        <a:srgbClr val="0F1B33"/>
      </a:dk1>
      <a:lt1>
        <a:srgbClr val="FFFFFF"/>
      </a:lt1>
      <a:dk2>
        <a:srgbClr val="3B4863"/>
      </a:dk2>
      <a:lt2>
        <a:srgbClr val="F3F4F8"/>
      </a:lt2>
      <a:accent1>
        <a:srgbClr val="E4002B"/>
      </a:accent1>
      <a:accent2>
        <a:srgbClr val="2563C9"/>
      </a:accent2>
      <a:accent3>
        <a:srgbClr val="1A8452"/>
      </a:accent3>
      <a:accent4>
        <a:srgbClr val="B86A00"/>
      </a:accent4>
      <a:accent5>
        <a:srgbClr val="6D45C9"/>
      </a:accent5>
      <a:accent6>
        <a:srgbClr val="0E7F78"/>
      </a:accent6>
      <a:hlink>
        <a:srgbClr val="E4002B"/>
      </a:hlink>
      <a:folHlink>
        <a:srgbClr val="6D45C9"/>
      </a:folHlink>
    </a:clrScheme>
    <a:fontScheme name="ABB Help 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ABB Help Me — Concept pitch</dc:title>
  <dc:subject>Employee support and well-being app</dc:subject>
  <dc:creator>ABB Help Me team</dc:creator>
  <cp:lastModifiedBy>ABB Help Me team</cp:lastModifiedBy>
  <cp:revision>1</cp:revision>
  <dcterms:created xsi:type="dcterms:W3CDTF">2026-10-16T19:59:18Z</dcterms:created>
  <dcterms:modified xsi:type="dcterms:W3CDTF">2026-10-16T19:59:18Z</dcterms:modified>
</cp:coreProperties>
</file>